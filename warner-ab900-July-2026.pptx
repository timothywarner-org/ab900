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63"/>
  </p:notesMasterIdLst>
  <p:sldIdLst>
    <p:sldId id="2134805807" r:id="rId3"/>
    <p:sldId id="302" r:id="rId4"/>
    <p:sldId id="4954" r:id="rId5"/>
    <p:sldId id="2134805738" r:id="rId6"/>
    <p:sldId id="362" r:id="rId7"/>
    <p:sldId id="2134805735" r:id="rId8"/>
    <p:sldId id="2134805750" r:id="rId9"/>
    <p:sldId id="2134805748" r:id="rId10"/>
    <p:sldId id="2076137130" r:id="rId11"/>
    <p:sldId id="2134805724" r:id="rId12"/>
    <p:sldId id="2134805749" r:id="rId13"/>
    <p:sldId id="2134805806" r:id="rId14"/>
    <p:sldId id="329" r:id="rId15"/>
    <p:sldId id="2134805739" r:id="rId16"/>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102" y="222"/>
      </p:cViewPr>
      <p:guideLst/>
    </p:cSldViewPr>
  </p:slideViewPr>
  <p:notesTextViewPr>
    <p:cViewPr>
      <p:scale>
        <a:sx n="1" d="1"/>
        <a:sy n="1" d="1"/>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153C74-BDE5-40A8-97C9-60F610E3A9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51ECDE-7F91-41EE-83FF-A5A0B30C64B6}">
      <dgm:prSet custT="1"/>
      <dgm:spPr/>
      <dgm:t>
        <a:bodyPr/>
        <a:lstStyle/>
        <a:p>
          <a:r>
            <a:rPr lang="en-US" sz="1800" dirty="0"/>
            <a:t>Course materials: </a:t>
          </a:r>
          <a:r>
            <a:rPr lang="en-US" sz="1800" b="1" dirty="0">
              <a:solidFill>
                <a:srgbClr val="FFFF00"/>
              </a:solidFill>
            </a:rPr>
            <a:t>github.com/</a:t>
          </a:r>
          <a:r>
            <a:rPr lang="en-US" sz="1800" b="1" dirty="0" err="1">
              <a:solidFill>
                <a:srgbClr val="FFFF00"/>
              </a:solidFill>
            </a:rPr>
            <a:t>timothywarner</a:t>
          </a:r>
          <a:r>
            <a:rPr lang="en-US" sz="1800" b="1" dirty="0">
              <a:solidFill>
                <a:srgbClr val="FFFF00"/>
              </a:solidFill>
            </a:rPr>
            <a:t>-org/ab900</a:t>
          </a:r>
        </a:p>
      </dgm:t>
    </dgm:pt>
    <dgm:pt modelId="{9C59B82A-49CF-4B0E-B6B5-FF62960F1236}" type="parTrans" cxnId="{374444DA-359A-40BB-AA3C-CB4B23E1DEE6}">
      <dgm:prSet/>
      <dgm:spPr/>
      <dgm:t>
        <a:bodyPr/>
        <a:lstStyle/>
        <a:p>
          <a:endParaRPr lang="en-US"/>
        </a:p>
      </dgm:t>
    </dgm:pt>
    <dgm:pt modelId="{C4705C84-C0A0-43AD-815D-1B5CC937168C}" type="sibTrans" cxnId="{374444DA-359A-40BB-AA3C-CB4B23E1DEE6}">
      <dgm:prSet/>
      <dgm:spPr/>
      <dgm:t>
        <a:bodyPr/>
        <a:lstStyle/>
        <a:p>
          <a:endParaRPr lang="en-US"/>
        </a:p>
      </dgm:t>
    </dgm:pt>
    <dgm:pt modelId="{611853A7-54C7-4654-8593-89A6186AA0E8}">
      <dgm:prSet custT="1"/>
      <dgm:spPr/>
      <dgm:t>
        <a:bodyPr/>
        <a:lstStyle/>
        <a:p>
          <a:r>
            <a:rPr lang="en-US" sz="1800" kern="1200" dirty="0"/>
            <a:t>Contact: </a:t>
          </a:r>
          <a:r>
            <a:rPr lang="en-US" sz="1800" b="1" kern="1200" dirty="0">
              <a:solidFill>
                <a:srgbClr val="FFFF00"/>
              </a:solidFill>
              <a:latin typeface="Calibri"/>
              <a:ea typeface="+mn-ea"/>
              <a:cs typeface="+mn-cs"/>
            </a:rPr>
            <a:t>TechTrainerTim.com</a:t>
          </a:r>
        </a:p>
      </dgm:t>
    </dgm:pt>
    <dgm:pt modelId="{EABA855E-B61A-49A1-A387-C0A792E97BC8}" type="parTrans" cxnId="{C13D4C49-B3A7-481A-ACC0-B2BCF00DBF62}">
      <dgm:prSet/>
      <dgm:spPr/>
      <dgm:t>
        <a:bodyPr/>
        <a:lstStyle/>
        <a:p>
          <a:endParaRPr lang="en-US"/>
        </a:p>
      </dgm:t>
    </dgm:pt>
    <dgm:pt modelId="{5B37FC59-1FCD-48BC-90BC-C855AD8A450C}" type="sibTrans" cxnId="{C13D4C49-B3A7-481A-ACC0-B2BCF00DBF62}">
      <dgm:prSet/>
      <dgm:spPr/>
      <dgm:t>
        <a:bodyPr/>
        <a:lstStyle/>
        <a:p>
          <a:endParaRPr lang="en-US"/>
        </a:p>
      </dgm:t>
    </dgm:pt>
    <dgm:pt modelId="{B0B9912E-BBF7-44D7-A843-499290D132C0}" type="pres">
      <dgm:prSet presAssocID="{9F153C74-BDE5-40A8-97C9-60F610E3A982}" presName="linear" presStyleCnt="0">
        <dgm:presLayoutVars>
          <dgm:dir/>
          <dgm:animLvl val="lvl"/>
          <dgm:resizeHandles val="exact"/>
        </dgm:presLayoutVars>
      </dgm:prSet>
      <dgm:spPr/>
    </dgm:pt>
    <dgm:pt modelId="{8C8EE7C5-2A01-4D7E-B387-AC2AC02D80C6}" type="pres">
      <dgm:prSet presAssocID="{2B51ECDE-7F91-41EE-83FF-A5A0B30C64B6}" presName="parentLin" presStyleCnt="0"/>
      <dgm:spPr/>
    </dgm:pt>
    <dgm:pt modelId="{3260CFAD-EAE8-42F7-A926-28A9A0B80F28}" type="pres">
      <dgm:prSet presAssocID="{2B51ECDE-7F91-41EE-83FF-A5A0B30C64B6}" presName="parentLeftMargin" presStyleLbl="node1" presStyleIdx="0" presStyleCnt="2"/>
      <dgm:spPr/>
    </dgm:pt>
    <dgm:pt modelId="{9D30D2F7-4B33-4D42-A652-B3E840684F23}" type="pres">
      <dgm:prSet presAssocID="{2B51ECDE-7F91-41EE-83FF-A5A0B30C64B6}" presName="parentText" presStyleLbl="node1" presStyleIdx="0" presStyleCnt="2">
        <dgm:presLayoutVars>
          <dgm:chMax val="0"/>
          <dgm:bulletEnabled val="1"/>
        </dgm:presLayoutVars>
      </dgm:prSet>
      <dgm:spPr/>
    </dgm:pt>
    <dgm:pt modelId="{2EC163D8-F551-4A4A-B222-F2F2E6E9426A}" type="pres">
      <dgm:prSet presAssocID="{2B51ECDE-7F91-41EE-83FF-A5A0B30C64B6}" presName="negativeSpace" presStyleCnt="0"/>
      <dgm:spPr/>
    </dgm:pt>
    <dgm:pt modelId="{2418270F-B1F3-42BE-AA03-9D6610EF0D7C}" type="pres">
      <dgm:prSet presAssocID="{2B51ECDE-7F91-41EE-83FF-A5A0B30C64B6}" presName="childText" presStyleLbl="conFgAcc1" presStyleIdx="0" presStyleCnt="2">
        <dgm:presLayoutVars>
          <dgm:bulletEnabled val="1"/>
        </dgm:presLayoutVars>
      </dgm:prSet>
      <dgm:spPr/>
    </dgm:pt>
    <dgm:pt modelId="{BB98CA99-1F97-48A9-A046-D3793DB2EB64}" type="pres">
      <dgm:prSet presAssocID="{C4705C84-C0A0-43AD-815D-1B5CC937168C}" presName="spaceBetweenRectangles" presStyleCnt="0"/>
      <dgm:spPr/>
    </dgm:pt>
    <dgm:pt modelId="{37D73758-DF08-4919-86E7-FBDB09310D85}" type="pres">
      <dgm:prSet presAssocID="{611853A7-54C7-4654-8593-89A6186AA0E8}" presName="parentLin" presStyleCnt="0"/>
      <dgm:spPr/>
    </dgm:pt>
    <dgm:pt modelId="{19A92570-F3E7-46A2-9583-AD53522C3A8A}" type="pres">
      <dgm:prSet presAssocID="{611853A7-54C7-4654-8593-89A6186AA0E8}" presName="parentLeftMargin" presStyleLbl="node1" presStyleIdx="0" presStyleCnt="2"/>
      <dgm:spPr/>
    </dgm:pt>
    <dgm:pt modelId="{A756F9DA-770F-4E71-BA6F-6782027AA6E6}" type="pres">
      <dgm:prSet presAssocID="{611853A7-54C7-4654-8593-89A6186AA0E8}" presName="parentText" presStyleLbl="node1" presStyleIdx="1" presStyleCnt="2">
        <dgm:presLayoutVars>
          <dgm:chMax val="0"/>
          <dgm:bulletEnabled val="1"/>
        </dgm:presLayoutVars>
      </dgm:prSet>
      <dgm:spPr/>
    </dgm:pt>
    <dgm:pt modelId="{7CF59D77-EE5A-4B20-BC63-117C296D3B1A}" type="pres">
      <dgm:prSet presAssocID="{611853A7-54C7-4654-8593-89A6186AA0E8}" presName="negativeSpace" presStyleCnt="0"/>
      <dgm:spPr/>
    </dgm:pt>
    <dgm:pt modelId="{9551A5F1-CFDA-429B-A533-DA941662AD22}" type="pres">
      <dgm:prSet presAssocID="{611853A7-54C7-4654-8593-89A6186AA0E8}" presName="childText" presStyleLbl="conFgAcc1" presStyleIdx="1" presStyleCnt="2">
        <dgm:presLayoutVars>
          <dgm:bulletEnabled val="1"/>
        </dgm:presLayoutVars>
      </dgm:prSet>
      <dgm:spPr/>
    </dgm:pt>
  </dgm:ptLst>
  <dgm:cxnLst>
    <dgm:cxn modelId="{AA11F703-1D2B-4D72-8C08-AD7DE648903A}" type="presOf" srcId="{2B51ECDE-7F91-41EE-83FF-A5A0B30C64B6}" destId="{9D30D2F7-4B33-4D42-A652-B3E840684F23}" srcOrd="1" destOrd="0" presId="urn:microsoft.com/office/officeart/2005/8/layout/list1"/>
    <dgm:cxn modelId="{7937C166-5627-488F-8D4E-0A4A6BDA75BB}" type="presOf" srcId="{9F153C74-BDE5-40A8-97C9-60F610E3A982}" destId="{B0B9912E-BBF7-44D7-A843-499290D132C0}" srcOrd="0" destOrd="0" presId="urn:microsoft.com/office/officeart/2005/8/layout/list1"/>
    <dgm:cxn modelId="{C13D4C49-B3A7-481A-ACC0-B2BCF00DBF62}" srcId="{9F153C74-BDE5-40A8-97C9-60F610E3A982}" destId="{611853A7-54C7-4654-8593-89A6186AA0E8}" srcOrd="1" destOrd="0" parTransId="{EABA855E-B61A-49A1-A387-C0A792E97BC8}" sibTransId="{5B37FC59-1FCD-48BC-90BC-C855AD8A450C}"/>
    <dgm:cxn modelId="{374444DA-359A-40BB-AA3C-CB4B23E1DEE6}" srcId="{9F153C74-BDE5-40A8-97C9-60F610E3A982}" destId="{2B51ECDE-7F91-41EE-83FF-A5A0B30C64B6}" srcOrd="0" destOrd="0" parTransId="{9C59B82A-49CF-4B0E-B6B5-FF62960F1236}" sibTransId="{C4705C84-C0A0-43AD-815D-1B5CC937168C}"/>
    <dgm:cxn modelId="{9DDF81E5-573A-418D-9C37-31992FCA0834}" type="presOf" srcId="{611853A7-54C7-4654-8593-89A6186AA0E8}" destId="{19A92570-F3E7-46A2-9583-AD53522C3A8A}" srcOrd="0" destOrd="0" presId="urn:microsoft.com/office/officeart/2005/8/layout/list1"/>
    <dgm:cxn modelId="{245319ED-D700-40C1-9C3E-555525F6B9BF}" type="presOf" srcId="{2B51ECDE-7F91-41EE-83FF-A5A0B30C64B6}" destId="{3260CFAD-EAE8-42F7-A926-28A9A0B80F28}" srcOrd="0" destOrd="0" presId="urn:microsoft.com/office/officeart/2005/8/layout/list1"/>
    <dgm:cxn modelId="{9475AFFB-1AFE-486C-B012-A3442B977040}" type="presOf" srcId="{611853A7-54C7-4654-8593-89A6186AA0E8}" destId="{A756F9DA-770F-4E71-BA6F-6782027AA6E6}" srcOrd="1" destOrd="0" presId="urn:microsoft.com/office/officeart/2005/8/layout/list1"/>
    <dgm:cxn modelId="{637BB273-A337-423C-9BDA-5AB5F9437376}" type="presParOf" srcId="{B0B9912E-BBF7-44D7-A843-499290D132C0}" destId="{8C8EE7C5-2A01-4D7E-B387-AC2AC02D80C6}" srcOrd="0" destOrd="0" presId="urn:microsoft.com/office/officeart/2005/8/layout/list1"/>
    <dgm:cxn modelId="{99B88204-CDE7-47EF-97C1-5ECBE36AFD5F}" type="presParOf" srcId="{8C8EE7C5-2A01-4D7E-B387-AC2AC02D80C6}" destId="{3260CFAD-EAE8-42F7-A926-28A9A0B80F28}" srcOrd="0" destOrd="0" presId="urn:microsoft.com/office/officeart/2005/8/layout/list1"/>
    <dgm:cxn modelId="{8C6728B6-92C8-4777-B5FC-804935F00280}" type="presParOf" srcId="{8C8EE7C5-2A01-4D7E-B387-AC2AC02D80C6}" destId="{9D30D2F7-4B33-4D42-A652-B3E840684F23}" srcOrd="1" destOrd="0" presId="urn:microsoft.com/office/officeart/2005/8/layout/list1"/>
    <dgm:cxn modelId="{1B6BE77A-6342-4288-ABD4-3823AA37A57F}" type="presParOf" srcId="{B0B9912E-BBF7-44D7-A843-499290D132C0}" destId="{2EC163D8-F551-4A4A-B222-F2F2E6E9426A}" srcOrd="1" destOrd="0" presId="urn:microsoft.com/office/officeart/2005/8/layout/list1"/>
    <dgm:cxn modelId="{7ECB4726-AFA1-44D7-8482-AF6D3E26D484}" type="presParOf" srcId="{B0B9912E-BBF7-44D7-A843-499290D132C0}" destId="{2418270F-B1F3-42BE-AA03-9D6610EF0D7C}" srcOrd="2" destOrd="0" presId="urn:microsoft.com/office/officeart/2005/8/layout/list1"/>
    <dgm:cxn modelId="{C2142FAD-823C-4438-8784-5BA933E9D3AE}" type="presParOf" srcId="{B0B9912E-BBF7-44D7-A843-499290D132C0}" destId="{BB98CA99-1F97-48A9-A046-D3793DB2EB64}" srcOrd="3" destOrd="0" presId="urn:microsoft.com/office/officeart/2005/8/layout/list1"/>
    <dgm:cxn modelId="{ED5A8098-6121-4A1F-8D37-A6A3B3AC5CF4}" type="presParOf" srcId="{B0B9912E-BBF7-44D7-A843-499290D132C0}" destId="{37D73758-DF08-4919-86E7-FBDB09310D85}" srcOrd="4" destOrd="0" presId="urn:microsoft.com/office/officeart/2005/8/layout/list1"/>
    <dgm:cxn modelId="{6429E9F9-5F64-4AD5-B4AB-D7BF994C6560}" type="presParOf" srcId="{37D73758-DF08-4919-86E7-FBDB09310D85}" destId="{19A92570-F3E7-46A2-9583-AD53522C3A8A}" srcOrd="0" destOrd="0" presId="urn:microsoft.com/office/officeart/2005/8/layout/list1"/>
    <dgm:cxn modelId="{0C4B5241-80C9-4503-BC09-848E1448975F}" type="presParOf" srcId="{37D73758-DF08-4919-86E7-FBDB09310D85}" destId="{A756F9DA-770F-4E71-BA6F-6782027AA6E6}" srcOrd="1" destOrd="0" presId="urn:microsoft.com/office/officeart/2005/8/layout/list1"/>
    <dgm:cxn modelId="{15368D64-1F9C-411E-B58E-3710EE230947}" type="presParOf" srcId="{B0B9912E-BBF7-44D7-A843-499290D132C0}" destId="{7CF59D77-EE5A-4B20-BC63-117C296D3B1A}" srcOrd="5" destOrd="0" presId="urn:microsoft.com/office/officeart/2005/8/layout/list1"/>
    <dgm:cxn modelId="{12C2D6AE-FE20-467A-B70A-C90E8E2BD12E}" type="presParOf" srcId="{B0B9912E-BBF7-44D7-A843-499290D132C0}" destId="{9551A5F1-CFDA-429B-A533-DA941662AD2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8270F-B1F3-42BE-AA03-9D6610EF0D7C}">
      <dsp:nvSpPr>
        <dsp:cNvPr id="0" name=""/>
        <dsp:cNvSpPr/>
      </dsp:nvSpPr>
      <dsp:spPr>
        <a:xfrm>
          <a:off x="0" y="452127"/>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30D2F7-4B33-4D42-A652-B3E840684F23}">
      <dsp:nvSpPr>
        <dsp:cNvPr id="0" name=""/>
        <dsp:cNvSpPr/>
      </dsp:nvSpPr>
      <dsp:spPr>
        <a:xfrm>
          <a:off x="332972" y="93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Course materials: </a:t>
          </a:r>
          <a:r>
            <a:rPr lang="en-US" sz="1800" b="1" kern="1200" dirty="0">
              <a:solidFill>
                <a:srgbClr val="FFFF00"/>
              </a:solidFill>
            </a:rPr>
            <a:t>github.com/</a:t>
          </a:r>
          <a:r>
            <a:rPr lang="en-US" sz="1800" b="1" kern="1200" dirty="0" err="1">
              <a:solidFill>
                <a:srgbClr val="FFFF00"/>
              </a:solidFill>
            </a:rPr>
            <a:t>timothywarner</a:t>
          </a:r>
          <a:r>
            <a:rPr lang="en-US" sz="1800" b="1" kern="1200" dirty="0">
              <a:solidFill>
                <a:srgbClr val="FFFF00"/>
              </a:solidFill>
            </a:rPr>
            <a:t>-org/ab900</a:t>
          </a:r>
        </a:p>
      </dsp:txBody>
      <dsp:txXfrm>
        <a:off x="376203" y="52558"/>
        <a:ext cx="4575154" cy="799138"/>
      </dsp:txXfrm>
    </dsp:sp>
    <dsp:sp modelId="{9551A5F1-CFDA-429B-A533-DA941662AD22}">
      <dsp:nvSpPr>
        <dsp:cNvPr id="0" name=""/>
        <dsp:cNvSpPr/>
      </dsp:nvSpPr>
      <dsp:spPr>
        <a:xfrm>
          <a:off x="0" y="1812928"/>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56F9DA-770F-4E71-BA6F-6782027AA6E6}">
      <dsp:nvSpPr>
        <dsp:cNvPr id="0" name=""/>
        <dsp:cNvSpPr/>
      </dsp:nvSpPr>
      <dsp:spPr>
        <a:xfrm>
          <a:off x="332972" y="13701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Contact: </a:t>
          </a:r>
          <a:r>
            <a:rPr lang="en-US" sz="1800" b="1" kern="1200" dirty="0">
              <a:solidFill>
                <a:srgbClr val="FFFF00"/>
              </a:solidFill>
              <a:latin typeface="Calibri"/>
              <a:ea typeface="+mn-ea"/>
              <a:cs typeface="+mn-cs"/>
            </a:rPr>
            <a:t>TechTrainerTim.com</a:t>
          </a:r>
        </a:p>
      </dsp:txBody>
      <dsp:txXfrm>
        <a:off x="376203" y="1413358"/>
        <a:ext cx="4575154"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68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How much flexibility am I allowed with these slide layouts? If you right-click a slide, you can play with layouts, but otherwise, not much flexibility. </a:t>
            </a:r>
          </a:p>
          <a:p>
            <a:pPr marL="228600" indent="-228600">
              <a:buAutoNum type="arabicPeriod"/>
            </a:pPr>
            <a:r>
              <a:rPr lang="en-US"/>
              <a:t>Am I free to add my own graphics, providing MSFT attribution where necessary? When it comes to MS graphics, we're not allowed to use those, so please do not add in graphics unless they are created FROM SCRATCH by you. </a:t>
            </a:r>
            <a:endParaRPr lang="en-US">
              <a:cs typeface="Calibri"/>
            </a:endParaRPr>
          </a:p>
          <a:p>
            <a:pPr marL="228600" indent="-228600">
              <a:buAutoNum type="arabicPeriod"/>
            </a:pPr>
            <a:r>
              <a:rPr lang="en-US"/>
              <a:t>Can I make the font a bit smaller? Some of the objectives are verbose and I don’t want to crowd the skills? Yes, I do this, too, when I review the slides because sometimes the default size just won't work.</a:t>
            </a:r>
            <a:endParaRPr lang="en-US">
              <a:cs typeface="Calibri"/>
            </a:endParaRPr>
          </a:p>
          <a:p>
            <a:pPr marL="228600" indent="-228600">
              <a:buAutoNum type="arabicPeriod"/>
            </a:pPr>
            <a:r>
              <a:rPr lang="en-US"/>
              <a:t>Do the bullet points here need to be word-for-word from the outline or can I condense? We prefer word-for-word, but some of the sub-lesson titles are super long. Use your discretion, and we can address case-by-case during the review of each lesson's slides.</a:t>
            </a:r>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159554-38D3-AB43-BFE6-DF62978A17A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34562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CB432F0-E49E-4C04-A383-401B93C7130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436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0" y="-7951"/>
            <a:ext cx="3638809" cy="4603805"/>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3742175" y="223404"/>
            <a:ext cx="5505191" cy="724334"/>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0" y="5188"/>
            <a:ext cx="3638809" cy="4590666"/>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spTree>
    <p:extLst>
      <p:ext uri="{BB962C8B-B14F-4D97-AF65-F5344CB8AC3E}">
        <p14:creationId xmlns:p14="http://schemas.microsoft.com/office/powerpoint/2010/main" val="3222031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7605FD-9760-4542-AA9A-73939422455B}"/>
              </a:ext>
            </a:extLst>
          </p:cNvPr>
          <p:cNvSpPr/>
          <p:nvPr userDrawn="1"/>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C83BD3-B120-F546-94C9-3421EA0D53AB}"/>
              </a:ext>
            </a:extLst>
          </p:cNvPr>
          <p:cNvSpPr/>
          <p:nvPr userDrawn="1"/>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3758076" y="94720"/>
            <a:ext cx="5505191" cy="658485"/>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2600"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303336" y="1523583"/>
            <a:ext cx="3446991" cy="209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0566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836832" y="1597819"/>
            <a:ext cx="4975394" cy="1102519"/>
          </a:xfrm>
          <a:prstGeom prst="rect">
            <a:avLst/>
          </a:prstGeom>
        </p:spPr>
        <p:txBody>
          <a:bodyPr>
            <a:noAutofit/>
          </a:bodyPr>
          <a:lstStyle>
            <a:lvl1pPr algn="l">
              <a:defRPr sz="36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3836831" y="2788538"/>
            <a:ext cx="4975395" cy="1314450"/>
          </a:xfrm>
        </p:spPr>
        <p:txBody>
          <a:bodyPr>
            <a:normAutofit/>
          </a:bodyPr>
          <a:lstStyle>
            <a:lvl1pPr marL="685800" indent="-630936" algn="l">
              <a:buNone/>
              <a:tabLst>
                <a:tab pos="574675" algn="l"/>
              </a:tabLst>
              <a:defRPr sz="2800" b="0" baseline="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978265" y="953484"/>
            <a:ext cx="771429" cy="1746853"/>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1529867" y="1226900"/>
            <a:ext cx="1198092" cy="1173400"/>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809803" y="1053105"/>
            <a:ext cx="1901382" cy="1537695"/>
          </a:xfrm>
          <a:prstGeom prst="rect">
            <a:avLst/>
          </a:prstGeom>
        </p:spPr>
      </p:pic>
    </p:spTree>
    <p:extLst>
      <p:ext uri="{BB962C8B-B14F-4D97-AF65-F5344CB8AC3E}">
        <p14:creationId xmlns:p14="http://schemas.microsoft.com/office/powerpoint/2010/main" val="2642058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6839712"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8644492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0"/>
            <a:ext cx="7552944"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457200" y="946140"/>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344" y="946356"/>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3731440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57149"/>
            <a:ext cx="7556938"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228821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7"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3340625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6" name="Title 1"/>
          <p:cNvSpPr>
            <a:spLocks noGrp="1"/>
          </p:cNvSpPr>
          <p:nvPr>
            <p:ph type="title"/>
          </p:nvPr>
        </p:nvSpPr>
        <p:spPr>
          <a:xfrm>
            <a:off x="1138620" y="-6349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1791128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34910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473530" y="351790"/>
            <a:ext cx="2809167" cy="4439921"/>
          </a:xfrm>
          <a:prstGeom prst="rect">
            <a:avLst/>
          </a:prstGeom>
        </p:spPr>
        <p:txBody>
          <a:bodyPr anchor="ctr">
            <a:noAutofit/>
          </a:bodyPr>
          <a:lstStyle>
            <a:lvl1pPr algn="r">
              <a:defRPr sz="1700" b="0" i="0">
                <a:solidFill>
                  <a:schemeClr val="accent1"/>
                </a:solidFill>
                <a:latin typeface="+mn-lt"/>
                <a:ea typeface="PS TT Commons DemiBold" charset="0"/>
                <a:cs typeface="PS TT Commons DemiBold" charset="0"/>
              </a:defRPr>
            </a:lvl1pPr>
            <a:lvl2pPr marL="586003" indent="-288930"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2pPr>
            <a:lvl3pPr marL="883074" indent="-28689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3pPr>
            <a:lvl4pPr marL="1096724" indent="-21364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4pPr>
            <a:lvl5pPr marL="1096722" indent="0" algn="r">
              <a:buFont typeface="Myriad Pro" panose="020B0503030403020204" pitchFamily="34" charset="0"/>
              <a:buNone/>
              <a:defRPr sz="1700"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3536188" y="351790"/>
            <a:ext cx="0" cy="4439921"/>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3789682" y="748738"/>
            <a:ext cx="4927599" cy="3646025"/>
          </a:xfrm>
          <a:prstGeom prst="rect">
            <a:avLst/>
          </a:prstGeom>
        </p:spPr>
        <p:txBody>
          <a:bodyPr anchor="ctr">
            <a:noAutofit/>
          </a:bodyPr>
          <a:lstStyle>
            <a:lvl1pPr>
              <a:lnSpc>
                <a:spcPct val="100000"/>
              </a:lnSpc>
              <a:defRPr sz="27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355526"/>
            <a:ext cx="3582453" cy="276999"/>
          </a:xfrm>
          <a:prstGeom prst="rect">
            <a:avLst/>
          </a:prstGeom>
        </p:spPr>
        <p:txBody>
          <a:bodyPr wrap="square">
            <a:spAutoFit/>
          </a:bodyPr>
          <a:lstStyle/>
          <a:p>
            <a:pPr algn="l" defTabSz="914378"/>
            <a:r>
              <a:rPr lang="en-US" sz="1200" b="1" i="0">
                <a:solidFill>
                  <a:srgbClr val="404040"/>
                </a:solidFill>
                <a:latin typeface="PS TT Commons DemiBold" charset="0"/>
                <a:ea typeface="PS TT Commons DemiBold" charset="0"/>
                <a:cs typeface="PS TT Commons DemiBold" charset="0"/>
              </a:rPr>
              <a:t>This slidelist is </a:t>
            </a:r>
            <a:r>
              <a:rPr lang="en-US" sz="1200" b="1" i="0">
                <a:solidFill>
                  <a:srgbClr val="F05A28"/>
                </a:solidFill>
                <a:latin typeface="PS TT Commons DemiBold" charset="0"/>
                <a:ea typeface="PS TT Commons DemiBold" charset="0"/>
                <a:cs typeface="PS TT Commons DemiBold" charset="0"/>
              </a:rPr>
              <a:t>preset </a:t>
            </a:r>
            <a:r>
              <a:rPr lang="en-US" sz="1200" b="1" i="0">
                <a:solidFill>
                  <a:srgbClr val="404040"/>
                </a:solidFill>
                <a:latin typeface="PS TT Commons DemiBold" charset="0"/>
                <a:ea typeface="PS TT Commons DemiBold" charset="0"/>
                <a:cs typeface="PS TT Commons DemiBold" charset="0"/>
              </a:rPr>
              <a:t>with</a:t>
            </a:r>
            <a:r>
              <a:rPr lang="en-US" sz="1200" b="1" i="0" baseline="0">
                <a:solidFill>
                  <a:srgbClr val="404040"/>
                </a:solidFill>
                <a:latin typeface="PS TT Commons DemiBold" charset="0"/>
                <a:ea typeface="PS TT Commons DemiBold" charset="0"/>
                <a:cs typeface="PS TT Commons DemiBold" charset="0"/>
              </a:rPr>
              <a:t> </a:t>
            </a:r>
            <a:r>
              <a:rPr lang="en-US" sz="1200" b="1" i="0">
                <a:solidFill>
                  <a:srgbClr val="F05A28"/>
                </a:solidFill>
                <a:latin typeface="PS TT Commons DemiBold" charset="0"/>
                <a:ea typeface="PS TT Commons DemiBold" charset="0"/>
                <a:cs typeface="PS TT Commons DemiBold" charset="0"/>
              </a:rPr>
              <a:t>animations</a:t>
            </a:r>
            <a:endParaRPr lang="en-US" sz="12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400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137264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3324634"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628651"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6020616"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3324634"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628651"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6020616"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327136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9593857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1.jpe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Segoe Pro" charset="0"/>
              </a:defRPr>
            </a:lvl1pPr>
          </a:lstStyle>
          <a:p>
            <a:fld id="{128B0A6C-EF38-9441-ADBF-8FE45FA6C46E}" type="datetimeFigureOut">
              <a:rPr lang="en-US" smtClean="0"/>
              <a:pPr/>
              <a:t>Tue, 7/28/2026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28619693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Segoe Pro"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Segoe Pro"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Segoe Pro"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1.xml"/><Relationship Id="rId7" Type="http://schemas.openxmlformats.org/officeDocument/2006/relationships/image" Target="../media/image20.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92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79A3E908-449E-044A-9510-AD48B0E8FE3B}"/>
              </a:ext>
            </a:extLst>
          </p:cNvPr>
          <p:cNvSpPr/>
          <p:nvPr/>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1653CF1-49CF-AE4B-9D66-090C6B2B3917}"/>
              </a:ext>
            </a:extLst>
          </p:cNvPr>
          <p:cNvSpPr/>
          <p:nvPr/>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12B4D47F-A755-0D45-BC12-086C687FD70E}"/>
              </a:ext>
            </a:extLst>
          </p:cNvPr>
          <p:cNvSpPr/>
          <p:nvPr/>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itle 1">
            <a:extLst>
              <a:ext uri="{FF2B5EF4-FFF2-40B4-BE49-F238E27FC236}">
                <a16:creationId xmlns:a16="http://schemas.microsoft.com/office/drawing/2014/main" id="{412337A7-EF2F-BD4E-96DF-29677C30DFCF}"/>
              </a:ext>
            </a:extLst>
          </p:cNvPr>
          <p:cNvSpPr txBox="1">
            <a:spLocks/>
          </p:cNvSpPr>
          <p:nvPr/>
        </p:nvSpPr>
        <p:spPr>
          <a:xfrm>
            <a:off x="3734819" y="-38100"/>
            <a:ext cx="5533440" cy="993314"/>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egoe Pro" charset="0"/>
                <a:ea typeface="+mj-ea"/>
                <a:cs typeface="+mj-cs"/>
              </a:rPr>
              <a:t>GitHub Copilot for Almost Everyone</a:t>
            </a:r>
          </a:p>
        </p:txBody>
      </p:sp>
      <p:pic>
        <p:nvPicPr>
          <p:cNvPr id="3" name="Picture 2">
            <a:extLst>
              <a:ext uri="{FF2B5EF4-FFF2-40B4-BE49-F238E27FC236}">
                <a16:creationId xmlns:a16="http://schemas.microsoft.com/office/drawing/2014/main" id="{4BB8DB96-E122-7455-6046-6112A98E4D79}"/>
              </a:ext>
            </a:extLst>
          </p:cNvPr>
          <p:cNvPicPr>
            <a:picLocks noChangeAspect="1"/>
          </p:cNvPicPr>
          <p:nvPr/>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C8F613B-EFA5-BEBA-670B-878DA49A4355}"/>
              </a:ext>
            </a:extLst>
          </p:cNvPr>
          <p:cNvPicPr>
            <a:picLocks noChangeAspect="1"/>
          </p:cNvPicPr>
          <p:nvPr/>
        </p:nvPicPr>
        <p:blipFill>
          <a:blip r:embed="rId4"/>
          <a:stretch>
            <a:fillRect/>
          </a:stretch>
        </p:blipFill>
        <p:spPr>
          <a:xfrm>
            <a:off x="4920012" y="1286687"/>
            <a:ext cx="3163054" cy="3125127"/>
          </a:xfrm>
          <a:prstGeom prst="rect">
            <a:avLst/>
          </a:prstGeom>
        </p:spPr>
      </p:pic>
      <p:pic>
        <p:nvPicPr>
          <p:cNvPr id="9" name="Picture 8" descr="A group of people sitting around a table with laptops&#10;&#10;Description automatically generated">
            <a:extLst>
              <a:ext uri="{FF2B5EF4-FFF2-40B4-BE49-F238E27FC236}">
                <a16:creationId xmlns:a16="http://schemas.microsoft.com/office/drawing/2014/main" id="{41F3C2C8-EDF1-C1F1-DEC4-1304DB65FDD3}"/>
              </a:ext>
            </a:extLst>
          </p:cNvPr>
          <p:cNvPicPr>
            <a:picLocks noChangeAspect="1"/>
          </p:cNvPicPr>
          <p:nvPr/>
        </p:nvPicPr>
        <p:blipFill>
          <a:blip r:embed="rId5">
            <a:extLst>
              <a:ext uri="{BEBA8EAE-BF5A-486C-A8C5-ECC9F3942E4B}">
                <a14:imgProps xmlns:a14="http://schemas.microsoft.com/office/drawing/2010/main">
                  <a14:imgLayer r:embed="rId6">
                    <a14:imgEffect>
                      <a14:artisticPencilSketch/>
                    </a14:imgEffect>
                  </a14:imgLayer>
                </a14:imgProps>
              </a:ext>
            </a:extLst>
          </a:blip>
          <a:stretch>
            <a:fillRect/>
          </a:stretch>
        </p:blipFill>
        <p:spPr>
          <a:xfrm>
            <a:off x="495381" y="1161183"/>
            <a:ext cx="3802470" cy="2374431"/>
          </a:xfrm>
          <a:prstGeom prst="rect">
            <a:avLst/>
          </a:prstGeom>
        </p:spPr>
      </p:pic>
      <p:sp>
        <p:nvSpPr>
          <p:cNvPr id="10" name="Subtitle 2">
            <a:extLst>
              <a:ext uri="{FF2B5EF4-FFF2-40B4-BE49-F238E27FC236}">
                <a16:creationId xmlns:a16="http://schemas.microsoft.com/office/drawing/2014/main" id="{2D52FBAA-CCB8-6A63-FE6F-EB94D38E8571}"/>
              </a:ext>
            </a:extLst>
          </p:cNvPr>
          <p:cNvSpPr>
            <a:spLocks noGrp="1"/>
          </p:cNvSpPr>
          <p:nvPr>
            <p:ph type="subTitle" idx="1"/>
          </p:nvPr>
        </p:nvSpPr>
        <p:spPr>
          <a:xfrm>
            <a:off x="123114" y="3727316"/>
            <a:ext cx="4975395" cy="1314450"/>
          </a:xfrm>
        </p:spPr>
        <p:txBody>
          <a:bodyPr/>
          <a:lstStyle/>
          <a:p>
            <a:r>
              <a:rPr lang="en-US" sz="2400" dirty="0"/>
              <a:t>Tim Warner</a:t>
            </a:r>
          </a:p>
          <a:p>
            <a:r>
              <a:rPr lang="en-US" sz="2400" dirty="0"/>
              <a:t>timw.info/linkedin</a:t>
            </a:r>
          </a:p>
          <a:p>
            <a:endParaRPr lang="en-US" dirty="0"/>
          </a:p>
        </p:txBody>
      </p:sp>
      <p:pic>
        <p:nvPicPr>
          <p:cNvPr id="4" name="Picture 3">
            <a:extLst>
              <a:ext uri="{FF2B5EF4-FFF2-40B4-BE49-F238E27FC236}">
                <a16:creationId xmlns:a16="http://schemas.microsoft.com/office/drawing/2014/main" id="{F627E40B-EEE9-59E6-97D9-61D5752FFBD0}"/>
              </a:ext>
            </a:extLst>
          </p:cNvPr>
          <p:cNvPicPr>
            <a:picLocks noChangeAspect="1"/>
          </p:cNvPicPr>
          <p:nvPr/>
        </p:nvPicPr>
        <p:blipFill>
          <a:blip r:embed="rId7"/>
          <a:stretch>
            <a:fillRect/>
          </a:stretch>
        </p:blipFill>
        <p:spPr>
          <a:xfrm>
            <a:off x="0" y="0"/>
            <a:ext cx="9144000" cy="5143500"/>
          </a:xfrm>
          <a:prstGeom prst="rect">
            <a:avLst/>
          </a:prstGeom>
        </p:spPr>
      </p:pic>
      <p:pic>
        <p:nvPicPr>
          <p:cNvPr id="5" name="Picture 4" descr="A black square with white text&#10;&#10;AI-generated content may be incorrect.">
            <a:extLst>
              <a:ext uri="{FF2B5EF4-FFF2-40B4-BE49-F238E27FC236}">
                <a16:creationId xmlns:a16="http://schemas.microsoft.com/office/drawing/2014/main" id="{CFC6D385-9EB4-D708-2C38-DC758BFDEC2A}"/>
              </a:ext>
            </a:extLst>
          </p:cNvPr>
          <p:cNvPicPr>
            <a:picLocks noChangeAspect="1"/>
          </p:cNvPicPr>
          <p:nvPr/>
        </p:nvPicPr>
        <p:blipFill>
          <a:blip r:embed="rId8"/>
          <a:stretch>
            <a:fillRect/>
          </a:stretch>
        </p:blipFill>
        <p:spPr>
          <a:xfrm>
            <a:off x="7792344" y="93193"/>
            <a:ext cx="1200150" cy="1200150"/>
          </a:xfrm>
          <a:prstGeom prst="rect">
            <a:avLst/>
          </a:prstGeom>
        </p:spPr>
      </p:pic>
      <p:pic>
        <p:nvPicPr>
          <p:cNvPr id="6" name="Picture 5">
            <a:extLst>
              <a:ext uri="{FF2B5EF4-FFF2-40B4-BE49-F238E27FC236}">
                <a16:creationId xmlns:a16="http://schemas.microsoft.com/office/drawing/2014/main" id="{EFC3226C-E75D-D50A-40E3-231004ADBC02}"/>
              </a:ext>
            </a:extLst>
          </p:cNvPr>
          <p:cNvPicPr>
            <a:picLocks noChangeAspect="1"/>
          </p:cNvPicPr>
          <p:nvPr/>
        </p:nvPicPr>
        <p:blipFill>
          <a:blip r:embed="rId9"/>
          <a:stretch>
            <a:fillRect/>
          </a:stretch>
        </p:blipFill>
        <p:spPr>
          <a:xfrm>
            <a:off x="-10612" y="0"/>
            <a:ext cx="9144000" cy="5143500"/>
          </a:xfrm>
          <a:prstGeom prst="rect">
            <a:avLst/>
          </a:prstGeom>
        </p:spPr>
      </p:pic>
      <p:pic>
        <p:nvPicPr>
          <p:cNvPr id="8" name="Picture 7">
            <a:extLst>
              <a:ext uri="{FF2B5EF4-FFF2-40B4-BE49-F238E27FC236}">
                <a16:creationId xmlns:a16="http://schemas.microsoft.com/office/drawing/2014/main" id="{752CDBC4-3C0A-7D20-F658-158054987195}"/>
              </a:ext>
            </a:extLst>
          </p:cNvPr>
          <p:cNvPicPr>
            <a:picLocks noChangeAspect="1"/>
          </p:cNvPicPr>
          <p:nvPr/>
        </p:nvPicPr>
        <p:blipFill>
          <a:blip r:embed="rId10"/>
          <a:stretch>
            <a:fillRect/>
          </a:stretch>
        </p:blipFill>
        <p:spPr>
          <a:xfrm>
            <a:off x="0" y="0"/>
            <a:ext cx="9144000" cy="5143500"/>
          </a:xfrm>
          <a:prstGeom prst="rect">
            <a:avLst/>
          </a:prstGeom>
        </p:spPr>
      </p:pic>
    </p:spTree>
    <p:extLst>
      <p:ext uri="{BB962C8B-B14F-4D97-AF65-F5344CB8AC3E}">
        <p14:creationId xmlns:p14="http://schemas.microsoft.com/office/powerpoint/2010/main" val="219208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Tim Warner</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a:xfrm>
            <a:off x="1210101" y="0"/>
            <a:ext cx="5412767" cy="5143500"/>
          </a:xfrm>
        </p:spPr>
        <p:txBody>
          <a:bodyPr anchor="ctr"/>
          <a:lstStyle/>
          <a:p>
            <a:r>
              <a:rPr lang="en-US" dirty="0"/>
              <a:t>Based in Nashville, TN, US</a:t>
            </a:r>
          </a:p>
          <a:p>
            <a:r>
              <a:rPr lang="en-US" dirty="0"/>
              <a:t>29-year Microsoft Certified Trainer (MCT)</a:t>
            </a:r>
          </a:p>
          <a:p>
            <a:r>
              <a:rPr lang="en-US" dirty="0"/>
              <a:t>8-year Microsoft MVP in M365 Copilot and Cloud/Datacenter Management</a:t>
            </a:r>
          </a:p>
          <a:p>
            <a:r>
              <a:rPr lang="en-US" dirty="0"/>
              <a:t>Contact: </a:t>
            </a:r>
            <a:r>
              <a:rPr lang="en-US" b="1" dirty="0">
                <a:solidFill>
                  <a:srgbClr val="0070C0"/>
                </a:solidFill>
              </a:rPr>
              <a:t>TechTrainerTim.com</a:t>
            </a:r>
          </a:p>
        </p:txBody>
      </p:sp>
      <p:pic>
        <p:nvPicPr>
          <p:cNvPr id="4" name="Picture 3" descr="A person wearing glasses and a black jacket&#10;&#10;Description automatically generated">
            <a:extLst>
              <a:ext uri="{FF2B5EF4-FFF2-40B4-BE49-F238E27FC236}">
                <a16:creationId xmlns:a16="http://schemas.microsoft.com/office/drawing/2014/main" id="{1AA0544B-0605-925D-D660-448D42C54C4A}"/>
              </a:ext>
            </a:extLst>
          </p:cNvPr>
          <p:cNvPicPr>
            <a:picLocks noChangeAspect="1"/>
          </p:cNvPicPr>
          <p:nvPr/>
        </p:nvPicPr>
        <p:blipFill>
          <a:blip r:embed="rId2"/>
          <a:stretch>
            <a:fillRect/>
          </a:stretch>
        </p:blipFill>
        <p:spPr>
          <a:xfrm>
            <a:off x="7153656" y="665194"/>
            <a:ext cx="1436198" cy="1238334"/>
          </a:xfrm>
          <a:prstGeom prst="rect">
            <a:avLst/>
          </a:prstGeom>
        </p:spPr>
      </p:pic>
      <p:sp>
        <p:nvSpPr>
          <p:cNvPr id="6" name="TextBox 5">
            <a:extLst>
              <a:ext uri="{FF2B5EF4-FFF2-40B4-BE49-F238E27FC236}">
                <a16:creationId xmlns:a16="http://schemas.microsoft.com/office/drawing/2014/main" id="{01EA1E90-D036-0812-B0EA-9BE49C8E81BB}"/>
              </a:ext>
            </a:extLst>
          </p:cNvPr>
          <p:cNvSpPr txBox="1"/>
          <p:nvPr/>
        </p:nvSpPr>
        <p:spPr>
          <a:xfrm>
            <a:off x="2286000" y="2313170"/>
            <a:ext cx="4572000" cy="369332"/>
          </a:xfrm>
          <a:prstGeom prst="rect">
            <a:avLst/>
          </a:prstGeom>
          <a:noFill/>
        </p:spPr>
        <p:txBody>
          <a:bodyPr wrap="square">
            <a:spAutoFit/>
          </a:bodyPr>
          <a:lstStyle/>
          <a:p>
            <a:endParaRPr lang="en-US" dirty="0"/>
          </a:p>
        </p:txBody>
      </p:sp>
      <p:sp>
        <p:nvSpPr>
          <p:cNvPr id="8" name="TextBox 7">
            <a:extLst>
              <a:ext uri="{FF2B5EF4-FFF2-40B4-BE49-F238E27FC236}">
                <a16:creationId xmlns:a16="http://schemas.microsoft.com/office/drawing/2014/main" id="{091CBF86-FCAD-53F3-E3E3-58AB18B3C753}"/>
              </a:ext>
            </a:extLst>
          </p:cNvPr>
          <p:cNvSpPr txBox="1"/>
          <p:nvPr/>
        </p:nvSpPr>
        <p:spPr>
          <a:xfrm>
            <a:off x="2286000" y="2313170"/>
            <a:ext cx="4572000" cy="369332"/>
          </a:xfrm>
          <a:prstGeom prst="rect">
            <a:avLst/>
          </a:prstGeom>
          <a:noFill/>
        </p:spPr>
        <p:txBody>
          <a:bodyPr wrap="square">
            <a:spAutoFit/>
          </a:bodyPr>
          <a:lstStyle/>
          <a:p>
            <a:endParaRPr lang="en-US" dirty="0"/>
          </a:p>
        </p:txBody>
      </p:sp>
      <p:pic>
        <p:nvPicPr>
          <p:cNvPr id="10" name="Picture 9">
            <a:extLst>
              <a:ext uri="{FF2B5EF4-FFF2-40B4-BE49-F238E27FC236}">
                <a16:creationId xmlns:a16="http://schemas.microsoft.com/office/drawing/2014/main" id="{34C70FAB-1BD7-3348-D26B-CAA46AB434F1}"/>
              </a:ext>
            </a:extLst>
          </p:cNvPr>
          <p:cNvPicPr>
            <a:picLocks noChangeAspect="1"/>
          </p:cNvPicPr>
          <p:nvPr/>
        </p:nvPicPr>
        <p:blipFill>
          <a:blip r:embed="rId3"/>
          <a:stretch>
            <a:fillRect/>
          </a:stretch>
        </p:blipFill>
        <p:spPr>
          <a:xfrm>
            <a:off x="7348890" y="3165593"/>
            <a:ext cx="1066638" cy="1066638"/>
          </a:xfrm>
          <a:prstGeom prst="rect">
            <a:avLst/>
          </a:prstGeom>
        </p:spPr>
      </p:pic>
      <p:pic>
        <p:nvPicPr>
          <p:cNvPr id="12" name="Picture 11">
            <a:extLst>
              <a:ext uri="{FF2B5EF4-FFF2-40B4-BE49-F238E27FC236}">
                <a16:creationId xmlns:a16="http://schemas.microsoft.com/office/drawing/2014/main" id="{399F2C55-842B-9EA0-9A80-8876650C9C1A}"/>
              </a:ext>
            </a:extLst>
          </p:cNvPr>
          <p:cNvPicPr>
            <a:picLocks noChangeAspect="1"/>
          </p:cNvPicPr>
          <p:nvPr/>
        </p:nvPicPr>
        <p:blipFill>
          <a:blip r:embed="rId4"/>
          <a:stretch>
            <a:fillRect/>
          </a:stretch>
        </p:blipFill>
        <p:spPr>
          <a:xfrm>
            <a:off x="7384512" y="2039410"/>
            <a:ext cx="990301" cy="990301"/>
          </a:xfrm>
          <a:prstGeom prst="rect">
            <a:avLst/>
          </a:prstGeom>
        </p:spPr>
      </p:pic>
    </p:spTree>
    <p:extLst>
      <p:ext uri="{BB962C8B-B14F-4D97-AF65-F5344CB8AC3E}">
        <p14:creationId xmlns:p14="http://schemas.microsoft.com/office/powerpoint/2010/main" val="189248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46CF2-1033-1D6A-4041-35049987BDC1}"/>
              </a:ext>
            </a:extLst>
          </p:cNvPr>
          <p:cNvSpPr>
            <a:spLocks noGrp="1"/>
          </p:cNvSpPr>
          <p:nvPr>
            <p:ph type="title"/>
          </p:nvPr>
        </p:nvSpPr>
        <p:spPr>
          <a:xfrm>
            <a:off x="1143000" y="-19050"/>
            <a:ext cx="7548179" cy="560552"/>
          </a:xfrm>
        </p:spPr>
        <p:txBody>
          <a:bodyPr/>
          <a:lstStyle/>
          <a:p>
            <a:r>
              <a:rPr lang="en-US" sz="3200" dirty="0"/>
              <a:t>Course Flow (Central Time Zone)</a:t>
            </a:r>
          </a:p>
        </p:txBody>
      </p:sp>
      <p:sp>
        <p:nvSpPr>
          <p:cNvPr id="5" name="Content Placeholder 4">
            <a:extLst>
              <a:ext uri="{FF2B5EF4-FFF2-40B4-BE49-F238E27FC236}">
                <a16:creationId xmlns:a16="http://schemas.microsoft.com/office/drawing/2014/main" id="{58ABDDE3-ED2D-5076-01A2-9459E36154BB}"/>
              </a:ext>
            </a:extLst>
          </p:cNvPr>
          <p:cNvSpPr>
            <a:spLocks noGrp="1"/>
          </p:cNvSpPr>
          <p:nvPr>
            <p:ph idx="1"/>
          </p:nvPr>
        </p:nvSpPr>
        <p:spPr>
          <a:xfrm>
            <a:off x="262128" y="976884"/>
            <a:ext cx="8915400" cy="3810000"/>
          </a:xfrm>
        </p:spPr>
        <p:txBody>
          <a:bodyPr/>
          <a:lstStyle/>
          <a:p>
            <a:r>
              <a:rPr lang="en-US" sz="2000" dirty="0"/>
              <a:t>09:00 am  -  Start - Segment 1 </a:t>
            </a:r>
            <a:r>
              <a:rPr lang="en-US" sz="2000" b="1" dirty="0">
                <a:solidFill>
                  <a:schemeClr val="accent1"/>
                </a:solidFill>
              </a:rPr>
              <a:t>[Core M365 Services]</a:t>
            </a:r>
          </a:p>
          <a:p>
            <a:r>
              <a:rPr lang="en-US" sz="2000" dirty="0"/>
              <a:t>10:00 am  -  10-minute break - Segment 2 </a:t>
            </a:r>
            <a:r>
              <a:rPr lang="en-US" sz="2000" b="1" dirty="0">
                <a:solidFill>
                  <a:schemeClr val="accent1"/>
                </a:solidFill>
              </a:rPr>
              <a:t>[Data Prot. &amp; Gov.]</a:t>
            </a:r>
          </a:p>
          <a:p>
            <a:r>
              <a:rPr lang="en-US" sz="2000" dirty="0"/>
              <a:t>11:00 am   -  10-minute break - Segment 3 </a:t>
            </a:r>
            <a:r>
              <a:rPr lang="en-US" sz="2000" b="1" dirty="0">
                <a:solidFill>
                  <a:schemeClr val="accent1"/>
                </a:solidFill>
              </a:rPr>
              <a:t>[Copilot Admin]</a:t>
            </a:r>
          </a:p>
          <a:p>
            <a:r>
              <a:rPr lang="en-US" sz="2000" dirty="0"/>
              <a:t>12:00 pm   - 10-minute break - Segment 4 </a:t>
            </a:r>
            <a:r>
              <a:rPr lang="en-US" sz="2000" b="1" dirty="0">
                <a:solidFill>
                  <a:schemeClr val="accent1"/>
                </a:solidFill>
              </a:rPr>
              <a:t>[Agent Admin &amp; Exam Prep]</a:t>
            </a:r>
          </a:p>
          <a:p>
            <a:r>
              <a:rPr lang="en-US" sz="2000" dirty="0"/>
              <a:t>01:00 pm -  Finish</a:t>
            </a:r>
          </a:p>
        </p:txBody>
      </p:sp>
    </p:spTree>
    <p:extLst>
      <p:ext uri="{BB962C8B-B14F-4D97-AF65-F5344CB8AC3E}">
        <p14:creationId xmlns:p14="http://schemas.microsoft.com/office/powerpoint/2010/main" val="4098099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4166-601F-40DD-95B0-100D121D02EF}"/>
              </a:ext>
            </a:extLst>
          </p:cNvPr>
          <p:cNvSpPr>
            <a:spLocks noGrp="1"/>
          </p:cNvSpPr>
          <p:nvPr>
            <p:ph type="title"/>
          </p:nvPr>
        </p:nvSpPr>
        <p:spPr/>
        <p:txBody>
          <a:bodyPr/>
          <a:lstStyle/>
          <a:p>
            <a:r>
              <a:rPr lang="en-US" dirty="0"/>
              <a:t>Course materials</a:t>
            </a:r>
          </a:p>
        </p:txBody>
      </p:sp>
      <p:sp>
        <p:nvSpPr>
          <p:cNvPr id="7" name="Rectangle 6">
            <a:extLst>
              <a:ext uri="{FF2B5EF4-FFF2-40B4-BE49-F238E27FC236}">
                <a16:creationId xmlns:a16="http://schemas.microsoft.com/office/drawing/2014/main" id="{2261ADE4-9EEE-29A6-C5EE-F9443C0FC968}"/>
              </a:ext>
            </a:extLst>
          </p:cNvPr>
          <p:cNvSpPr/>
          <p:nvPr/>
        </p:nvSpPr>
        <p:spPr>
          <a:xfrm>
            <a:off x="76200" y="2114550"/>
            <a:ext cx="8915400" cy="1200329"/>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github.com/</a:t>
            </a:r>
            <a:r>
              <a:rPr kumimoji="0" lang="en-US" sz="3600" b="0" i="0" u="none" strike="noStrike" kern="1200" cap="none" spc="0" normalizeH="0" baseline="0" noProof="0" dirty="0" err="1">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timothywarner</a:t>
            </a: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-org/</a:t>
            </a:r>
            <a:b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br>
            <a:r>
              <a:rPr kumimoji="0" lang="en-US" sz="3600" b="0" i="0" u="none" strike="noStrike" kern="1200" cap="none" spc="0" normalizeH="0" baseline="0" noProof="0" dirty="0">
                <a:ln w="0">
                  <a:solidFill>
                    <a:sysClr val="windowText" lastClr="000000"/>
                  </a:solidFill>
                </a:ln>
                <a:solidFill>
                  <a:srgbClr val="4F81BD"/>
                </a:solidFill>
                <a:effectLst>
                  <a:outerShdw blurRad="38100" dist="25400" dir="5400000" algn="ctr" rotWithShape="0">
                    <a:srgbClr val="6E747A">
                      <a:alpha val="43000"/>
                    </a:srgbClr>
                  </a:outerShdw>
                </a:effectLst>
                <a:uLnTx/>
                <a:uFillTx/>
                <a:latin typeface="JetBrains Mono" panose="02000009000000000000" pitchFamily="49" charset="0"/>
                <a:ea typeface="JetBrains Mono" panose="02000009000000000000" pitchFamily="49" charset="0"/>
                <a:cs typeface="JetBrains Mono" panose="02000009000000000000" pitchFamily="49" charset="0"/>
              </a:rPr>
              <a:t>ab900</a:t>
            </a:r>
          </a:p>
        </p:txBody>
      </p:sp>
    </p:spTree>
    <p:extLst>
      <p:ext uri="{BB962C8B-B14F-4D97-AF65-F5344CB8AC3E}">
        <p14:creationId xmlns:p14="http://schemas.microsoft.com/office/powerpoint/2010/main" val="256518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51AF7529-3EF3-F0A5-72E3-978DA3B5FDE4}"/>
              </a:ext>
            </a:extLst>
          </p:cNvPr>
          <p:cNvPicPr>
            <a:picLocks noChangeAspect="1"/>
          </p:cNvPicPr>
          <p:nvPr/>
        </p:nvPicPr>
        <p:blipFill>
          <a:blip r:embed="rId2"/>
          <a:stretch>
            <a:fillRect/>
          </a:stretch>
        </p:blipFill>
        <p:spPr>
          <a:xfrm>
            <a:off x="1525270" y="917060"/>
            <a:ext cx="6093460" cy="4145898"/>
          </a:xfrm>
          <a:prstGeom prst="rect">
            <a:avLst/>
          </a:prstGeom>
        </p:spPr>
      </p:pic>
    </p:spTree>
    <p:extLst>
      <p:ext uri="{BB962C8B-B14F-4D97-AF65-F5344CB8AC3E}">
        <p14:creationId xmlns:p14="http://schemas.microsoft.com/office/powerpoint/2010/main" val="219175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07BDE609-3102-33A5-0D76-F8404830B597}"/>
              </a:ext>
            </a:extLst>
          </p:cNvPr>
          <p:cNvPicPr>
            <a:picLocks noChangeAspect="1"/>
          </p:cNvPicPr>
          <p:nvPr/>
        </p:nvPicPr>
        <p:blipFill>
          <a:blip r:embed="rId2"/>
          <a:stretch>
            <a:fillRect/>
          </a:stretch>
        </p:blipFill>
        <p:spPr>
          <a:xfrm>
            <a:off x="2273166" y="884150"/>
            <a:ext cx="5042034" cy="4204717"/>
          </a:xfrm>
          <a:prstGeom prst="rect">
            <a:avLst/>
          </a:prstGeom>
        </p:spPr>
      </p:pic>
    </p:spTree>
    <p:extLst>
      <p:ext uri="{BB962C8B-B14F-4D97-AF65-F5344CB8AC3E}">
        <p14:creationId xmlns:p14="http://schemas.microsoft.com/office/powerpoint/2010/main" val="23989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ED3D589A-55D8-E106-C2FD-6D91BE7041E3}"/>
              </a:ext>
            </a:extLst>
          </p:cNvPr>
          <p:cNvPicPr>
            <a:picLocks noChangeAspect="1"/>
          </p:cNvPicPr>
          <p:nvPr/>
        </p:nvPicPr>
        <p:blipFill>
          <a:blip r:embed="rId2"/>
          <a:stretch>
            <a:fillRect/>
          </a:stretch>
        </p:blipFill>
        <p:spPr>
          <a:xfrm>
            <a:off x="1819175" y="958796"/>
            <a:ext cx="5505651" cy="4014803"/>
          </a:xfrm>
          <a:prstGeom prst="rect">
            <a:avLst/>
          </a:prstGeom>
        </p:spPr>
      </p:pic>
    </p:spTree>
    <p:extLst>
      <p:ext uri="{BB962C8B-B14F-4D97-AF65-F5344CB8AC3E}">
        <p14:creationId xmlns:p14="http://schemas.microsoft.com/office/powerpoint/2010/main" val="1150841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Mobile Browser: learning.oreilly.com</a:t>
            </a:r>
          </a:p>
        </p:txBody>
      </p:sp>
      <p:pic>
        <p:nvPicPr>
          <p:cNvPr id="5" name="Picture 4" descr="Graphical user interface, application&#10;&#10;Description automatically generated">
            <a:extLst>
              <a:ext uri="{FF2B5EF4-FFF2-40B4-BE49-F238E27FC236}">
                <a16:creationId xmlns:a16="http://schemas.microsoft.com/office/drawing/2014/main" id="{827554A8-F92C-F14A-8C83-9F8E5E8E7744}"/>
              </a:ext>
            </a:extLst>
          </p:cNvPr>
          <p:cNvPicPr>
            <a:picLocks noChangeAspect="1"/>
          </p:cNvPicPr>
          <p:nvPr/>
        </p:nvPicPr>
        <p:blipFill>
          <a:blip r:embed="rId2"/>
          <a:stretch>
            <a:fillRect/>
          </a:stretch>
        </p:blipFill>
        <p:spPr>
          <a:xfrm>
            <a:off x="1859796" y="620760"/>
            <a:ext cx="2042656" cy="4420819"/>
          </a:xfrm>
          <a:prstGeom prst="rect">
            <a:avLst/>
          </a:prstGeom>
          <a:ln w="25400">
            <a:solidFill>
              <a:schemeClr val="tx1"/>
            </a:solidFill>
          </a:ln>
        </p:spPr>
      </p:pic>
      <p:pic>
        <p:nvPicPr>
          <p:cNvPr id="7" name="Picture 6" descr="Graphical user interface, application&#10;&#10;Description automatically generated">
            <a:extLst>
              <a:ext uri="{FF2B5EF4-FFF2-40B4-BE49-F238E27FC236}">
                <a16:creationId xmlns:a16="http://schemas.microsoft.com/office/drawing/2014/main" id="{021EF08F-9341-6342-AF6B-776AFF8862FD}"/>
              </a:ext>
            </a:extLst>
          </p:cNvPr>
          <p:cNvPicPr>
            <a:picLocks noChangeAspect="1"/>
          </p:cNvPicPr>
          <p:nvPr/>
        </p:nvPicPr>
        <p:blipFill>
          <a:blip r:embed="rId3"/>
          <a:stretch>
            <a:fillRect/>
          </a:stretch>
        </p:blipFill>
        <p:spPr>
          <a:xfrm>
            <a:off x="5197593" y="620760"/>
            <a:ext cx="2042656" cy="4420819"/>
          </a:xfrm>
          <a:prstGeom prst="rect">
            <a:avLst/>
          </a:prstGeom>
          <a:ln w="25400">
            <a:solidFill>
              <a:schemeClr val="tx1"/>
            </a:solidFill>
          </a:ln>
        </p:spPr>
      </p:pic>
    </p:spTree>
    <p:extLst>
      <p:ext uri="{BB962C8B-B14F-4D97-AF65-F5344CB8AC3E}">
        <p14:creationId xmlns:p14="http://schemas.microsoft.com/office/powerpoint/2010/main" val="338733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O'Reilly Mobile App</a:t>
            </a:r>
          </a:p>
        </p:txBody>
      </p:sp>
      <p:sp>
        <p:nvSpPr>
          <p:cNvPr id="3" name="Content Placeholder 2">
            <a:extLst>
              <a:ext uri="{FF2B5EF4-FFF2-40B4-BE49-F238E27FC236}">
                <a16:creationId xmlns:a16="http://schemas.microsoft.com/office/drawing/2014/main" id="{711A448E-1641-C6C6-5E8B-F04A26A92A2F}"/>
              </a:ext>
            </a:extLst>
          </p:cNvPr>
          <p:cNvSpPr>
            <a:spLocks noGrp="1"/>
          </p:cNvSpPr>
          <p:nvPr>
            <p:ph idx="1"/>
          </p:nvPr>
        </p:nvSpPr>
        <p:spPr/>
        <p:txBody>
          <a:bodyPr/>
          <a:lstStyle/>
          <a:p>
            <a:endParaRPr lang="en-US"/>
          </a:p>
        </p:txBody>
      </p:sp>
      <p:pic>
        <p:nvPicPr>
          <p:cNvPr id="4" name="Picture 3" descr="A picture containing graphical user interface&#10;&#10;Description automatically generated">
            <a:extLst>
              <a:ext uri="{FF2B5EF4-FFF2-40B4-BE49-F238E27FC236}">
                <a16:creationId xmlns:a16="http://schemas.microsoft.com/office/drawing/2014/main" id="{315DC88E-7054-4252-AFD8-4AA02679E7C4}"/>
              </a:ext>
            </a:extLst>
          </p:cNvPr>
          <p:cNvPicPr>
            <a:picLocks noChangeAspect="1"/>
          </p:cNvPicPr>
          <p:nvPr/>
        </p:nvPicPr>
        <p:blipFill>
          <a:blip r:embed="rId2"/>
          <a:stretch>
            <a:fillRect/>
          </a:stretch>
        </p:blipFill>
        <p:spPr>
          <a:xfrm>
            <a:off x="5810791" y="631723"/>
            <a:ext cx="1890237" cy="4083169"/>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21634B22-A0C3-44CF-AAF2-82E811B1485D}"/>
              </a:ext>
            </a:extLst>
          </p:cNvPr>
          <p:cNvPicPr>
            <a:picLocks noChangeAspect="1"/>
          </p:cNvPicPr>
          <p:nvPr/>
        </p:nvPicPr>
        <p:blipFill>
          <a:blip r:embed="rId3"/>
          <a:stretch>
            <a:fillRect/>
          </a:stretch>
        </p:blipFill>
        <p:spPr>
          <a:xfrm>
            <a:off x="3611218" y="631723"/>
            <a:ext cx="1890237" cy="4083169"/>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628EA13E-A4E6-4C85-AEDB-54DAA302A8EB}"/>
              </a:ext>
            </a:extLst>
          </p:cNvPr>
          <p:cNvPicPr>
            <a:picLocks noChangeAspect="1"/>
          </p:cNvPicPr>
          <p:nvPr/>
        </p:nvPicPr>
        <p:blipFill>
          <a:blip r:embed="rId4"/>
          <a:stretch>
            <a:fillRect/>
          </a:stretch>
        </p:blipFill>
        <p:spPr>
          <a:xfrm>
            <a:off x="1411645" y="631723"/>
            <a:ext cx="1890237" cy="4083169"/>
          </a:xfrm>
          <a:prstGeom prst="rect">
            <a:avLst/>
          </a:prstGeom>
        </p:spPr>
      </p:pic>
    </p:spTree>
    <p:extLst>
      <p:ext uri="{BB962C8B-B14F-4D97-AF65-F5344CB8AC3E}">
        <p14:creationId xmlns:p14="http://schemas.microsoft.com/office/powerpoint/2010/main" val="906806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sp>
        <p:nvSpPr>
          <p:cNvPr id="4" name="Content Placeholder 3">
            <a:extLst>
              <a:ext uri="{FF2B5EF4-FFF2-40B4-BE49-F238E27FC236}">
                <a16:creationId xmlns:a16="http://schemas.microsoft.com/office/drawing/2014/main" id="{36ABFEBF-5A09-4AF5-A729-2BA151A8BA2D}"/>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0E569151-7122-0468-8CFE-079000584105}"/>
              </a:ext>
            </a:extLst>
          </p:cNvPr>
          <p:cNvPicPr>
            <a:picLocks noChangeAspect="1"/>
          </p:cNvPicPr>
          <p:nvPr/>
        </p:nvPicPr>
        <p:blipFill>
          <a:blip r:embed="rId2"/>
          <a:stretch>
            <a:fillRect/>
          </a:stretch>
        </p:blipFill>
        <p:spPr>
          <a:xfrm>
            <a:off x="2676102" y="932046"/>
            <a:ext cx="3791797" cy="3929583"/>
          </a:xfrm>
          <a:prstGeom prst="rect">
            <a:avLst/>
          </a:prstGeom>
        </p:spPr>
      </p:pic>
    </p:spTree>
    <p:extLst>
      <p:ext uri="{BB962C8B-B14F-4D97-AF65-F5344CB8AC3E}">
        <p14:creationId xmlns:p14="http://schemas.microsoft.com/office/powerpoint/2010/main" val="127922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78AE-F548-FC79-99A8-D85EC42C4D70}"/>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99FD87FF-CB86-2383-0712-FFA9C41BCE7C}"/>
              </a:ext>
            </a:extLst>
          </p:cNvPr>
          <p:cNvSpPr>
            <a:spLocks noGrp="1"/>
          </p:cNvSpPr>
          <p:nvPr>
            <p:ph idx="1"/>
          </p:nvPr>
        </p:nvSpPr>
        <p:spPr/>
        <p:txBody>
          <a:bodyPr/>
          <a:lstStyle/>
          <a:p>
            <a:r>
              <a:rPr lang="en-US" dirty="0"/>
              <a:t>Please add questions to the </a:t>
            </a:r>
            <a:r>
              <a:rPr lang="en-US" b="1" dirty="0"/>
              <a:t>Q&amp;A window </a:t>
            </a:r>
            <a:r>
              <a:rPr lang="en-US" dirty="0"/>
              <a:t>so I don’t miss them</a:t>
            </a:r>
          </a:p>
          <a:p>
            <a:r>
              <a:rPr lang="en-US" dirty="0"/>
              <a:t>Only O’Reilly folks and I can read them</a:t>
            </a:r>
          </a:p>
          <a:p>
            <a:r>
              <a:rPr lang="en-US" dirty="0"/>
              <a:t>Your name shows up as initials with no company name</a:t>
            </a:r>
          </a:p>
          <a:p>
            <a:r>
              <a:rPr lang="en-US" dirty="0"/>
              <a:t>Let us know in the Q&amp;A </a:t>
            </a:r>
            <a:r>
              <a:rPr lang="en-US" b="1" dirty="0"/>
              <a:t>if my audio and/or video gets “crispy”</a:t>
            </a:r>
          </a:p>
          <a:p>
            <a:endParaRPr lang="en-US" dirty="0"/>
          </a:p>
        </p:txBody>
      </p:sp>
    </p:spTree>
    <p:extLst>
      <p:ext uri="{BB962C8B-B14F-4D97-AF65-F5344CB8AC3E}">
        <p14:creationId xmlns:p14="http://schemas.microsoft.com/office/powerpoint/2010/main" val="3430515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Tim's IT Certification Study Model</a:t>
            </a:r>
          </a:p>
        </p:txBody>
      </p:sp>
      <p:grpSp>
        <p:nvGrpSpPr>
          <p:cNvPr id="10" name="Group 9">
            <a:extLst>
              <a:ext uri="{FF2B5EF4-FFF2-40B4-BE49-F238E27FC236}">
                <a16:creationId xmlns:a16="http://schemas.microsoft.com/office/drawing/2014/main" id="{D1B1122D-9177-6236-3A23-81E9FE9D3D57}"/>
              </a:ext>
            </a:extLst>
          </p:cNvPr>
          <p:cNvGrpSpPr/>
          <p:nvPr/>
        </p:nvGrpSpPr>
        <p:grpSpPr>
          <a:xfrm>
            <a:off x="1025607" y="810634"/>
            <a:ext cx="7083648" cy="3968535"/>
            <a:chOff x="1025607" y="810634"/>
            <a:chExt cx="7083648" cy="3968535"/>
          </a:xfrm>
        </p:grpSpPr>
        <p:pic>
          <p:nvPicPr>
            <p:cNvPr id="5" name="Picture 4" descr="A wooden stool with text on it&#10;&#10;AI-generated content may be incorrect.">
              <a:extLst>
                <a:ext uri="{FF2B5EF4-FFF2-40B4-BE49-F238E27FC236}">
                  <a16:creationId xmlns:a16="http://schemas.microsoft.com/office/drawing/2014/main" id="{215FEF25-F898-F71F-0EF5-D48AB82DFE0F}"/>
                </a:ext>
              </a:extLst>
            </p:cNvPr>
            <p:cNvPicPr>
              <a:picLocks noChangeAspect="1"/>
            </p:cNvPicPr>
            <p:nvPr/>
          </p:nvPicPr>
          <p:blipFill>
            <a:blip r:embed="rId2"/>
            <a:stretch>
              <a:fillRect/>
            </a:stretch>
          </p:blipFill>
          <p:spPr>
            <a:xfrm>
              <a:off x="1025607" y="810634"/>
              <a:ext cx="7083648" cy="3968535"/>
            </a:xfrm>
            <a:prstGeom prst="rect">
              <a:avLst/>
            </a:prstGeom>
          </p:spPr>
        </p:pic>
        <p:pic>
          <p:nvPicPr>
            <p:cNvPr id="9" name="Picture 8">
              <a:extLst>
                <a:ext uri="{FF2B5EF4-FFF2-40B4-BE49-F238E27FC236}">
                  <a16:creationId xmlns:a16="http://schemas.microsoft.com/office/drawing/2014/main" id="{B2126A8E-EA8E-9EE9-AD1F-32BB2E39C6C8}"/>
                </a:ext>
              </a:extLst>
            </p:cNvPr>
            <p:cNvPicPr>
              <a:picLocks noChangeAspect="1"/>
            </p:cNvPicPr>
            <p:nvPr/>
          </p:nvPicPr>
          <p:blipFill>
            <a:blip r:embed="rId3"/>
            <a:stretch>
              <a:fillRect/>
            </a:stretch>
          </p:blipFill>
          <p:spPr>
            <a:xfrm>
              <a:off x="1585279" y="917086"/>
              <a:ext cx="5431538" cy="411199"/>
            </a:xfrm>
            <a:prstGeom prst="rect">
              <a:avLst/>
            </a:prstGeom>
          </p:spPr>
        </p:pic>
      </p:grpSp>
    </p:spTree>
    <p:extLst>
      <p:ext uri="{BB962C8B-B14F-4D97-AF65-F5344CB8AC3E}">
        <p14:creationId xmlns:p14="http://schemas.microsoft.com/office/powerpoint/2010/main" val="2973039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Thank you!</a:t>
            </a:r>
          </a:p>
        </p:txBody>
      </p:sp>
      <p:graphicFrame>
        <p:nvGraphicFramePr>
          <p:cNvPr id="8" name="Content Placeholder 2">
            <a:extLst>
              <a:ext uri="{FF2B5EF4-FFF2-40B4-BE49-F238E27FC236}">
                <a16:creationId xmlns:a16="http://schemas.microsoft.com/office/drawing/2014/main" id="{D9943E7B-A596-34C1-5378-FDFF8C0F479F}"/>
              </a:ext>
            </a:extLst>
          </p:cNvPr>
          <p:cNvGraphicFramePr>
            <a:graphicFrameLocks noGrp="1"/>
          </p:cNvGraphicFramePr>
          <p:nvPr>
            <p:ph idx="1"/>
            <p:extLst>
              <p:ext uri="{D42A27DB-BD31-4B8C-83A1-F6EECF244321}">
                <p14:modId xmlns:p14="http://schemas.microsoft.com/office/powerpoint/2010/main" val="333092044"/>
              </p:ext>
            </p:extLst>
          </p:nvPr>
        </p:nvGraphicFramePr>
        <p:xfrm>
          <a:off x="1327639" y="1669236"/>
          <a:ext cx="6659452" cy="257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person wearing glasses and a black jacket&#10;&#10;Description automatically generated">
            <a:extLst>
              <a:ext uri="{FF2B5EF4-FFF2-40B4-BE49-F238E27FC236}">
                <a16:creationId xmlns:a16="http://schemas.microsoft.com/office/drawing/2014/main" id="{7BD2FF3E-2C5E-5100-D4C0-E51DEE6C9981}"/>
              </a:ext>
            </a:extLst>
          </p:cNvPr>
          <p:cNvPicPr>
            <a:picLocks noChangeAspect="1"/>
          </p:cNvPicPr>
          <p:nvPr/>
        </p:nvPicPr>
        <p:blipFill>
          <a:blip r:embed="rId7"/>
          <a:stretch>
            <a:fillRect/>
          </a:stretch>
        </p:blipFill>
        <p:spPr>
          <a:xfrm>
            <a:off x="7384512" y="710914"/>
            <a:ext cx="1436198" cy="1238334"/>
          </a:xfrm>
          <a:prstGeom prst="rect">
            <a:avLst/>
          </a:prstGeom>
        </p:spPr>
      </p:pic>
      <p:pic>
        <p:nvPicPr>
          <p:cNvPr id="7" name="Picture 6">
            <a:extLst>
              <a:ext uri="{FF2B5EF4-FFF2-40B4-BE49-F238E27FC236}">
                <a16:creationId xmlns:a16="http://schemas.microsoft.com/office/drawing/2014/main" id="{F6402F8E-5571-66FB-1130-7997C65A5B6C}"/>
              </a:ext>
            </a:extLst>
          </p:cNvPr>
          <p:cNvPicPr>
            <a:picLocks noChangeAspect="1"/>
          </p:cNvPicPr>
          <p:nvPr/>
        </p:nvPicPr>
        <p:blipFill>
          <a:blip r:embed="rId8"/>
          <a:stretch>
            <a:fillRect/>
          </a:stretch>
        </p:blipFill>
        <p:spPr>
          <a:xfrm>
            <a:off x="7579746" y="3211313"/>
            <a:ext cx="1066638" cy="1066638"/>
          </a:xfrm>
          <a:prstGeom prst="rect">
            <a:avLst/>
          </a:prstGeom>
        </p:spPr>
      </p:pic>
      <p:pic>
        <p:nvPicPr>
          <p:cNvPr id="10" name="Picture 9">
            <a:extLst>
              <a:ext uri="{FF2B5EF4-FFF2-40B4-BE49-F238E27FC236}">
                <a16:creationId xmlns:a16="http://schemas.microsoft.com/office/drawing/2014/main" id="{05731D87-BC27-871D-9189-36B98D29CABC}"/>
              </a:ext>
            </a:extLst>
          </p:cNvPr>
          <p:cNvPicPr>
            <a:picLocks noChangeAspect="1"/>
          </p:cNvPicPr>
          <p:nvPr/>
        </p:nvPicPr>
        <p:blipFill>
          <a:blip r:embed="rId9"/>
          <a:stretch>
            <a:fillRect/>
          </a:stretch>
        </p:blipFill>
        <p:spPr>
          <a:xfrm>
            <a:off x="7615368" y="2085130"/>
            <a:ext cx="990301" cy="990301"/>
          </a:xfrm>
          <a:prstGeom prst="rect">
            <a:avLst/>
          </a:prstGeom>
        </p:spPr>
      </p:pic>
    </p:spTree>
    <p:extLst>
      <p:ext uri="{BB962C8B-B14F-4D97-AF65-F5344CB8AC3E}">
        <p14:creationId xmlns:p14="http://schemas.microsoft.com/office/powerpoint/2010/main" val="4004251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AB-900: Microsoft 365 Copilot and</a:t>
            </a:r>
            <a:endParaRPr lang="en-US" sz="3600" dirty="0"/>
          </a:p>
          <a:p>
            <a:pPr marL="0" indent="0">
              <a:buNone/>
            </a:pPr>
            <a:r>
              <a:rPr lang="en-US" sz="3600" b="1" dirty="0">
                <a:solidFill>
                  <a:srgbClr val="FFFFFF"/>
                </a:solidFill>
                <a:latin typeface="Arial" pitchFamily="34" charset="0"/>
                <a:ea typeface="Arial" pitchFamily="34" charset="-122"/>
                <a:cs typeface="Arial" pitchFamily="34" charset="-120"/>
              </a:rPr>
              <a:t>Agent Administration Fundamentals</a:t>
            </a:r>
            <a:endParaRPr lang="en-US" sz="3600" dirty="0"/>
          </a:p>
        </p:txBody>
      </p:sp>
      <p:sp>
        <p:nvSpPr>
          <p:cNvPr id="3" name="Text 1"/>
          <p:cNvSpPr/>
          <p:nvPr/>
        </p:nvSpPr>
        <p:spPr>
          <a:xfrm>
            <a:off x="731520" y="2651760"/>
            <a:ext cx="7680960" cy="731520"/>
          </a:xfrm>
          <a:prstGeom prst="rect">
            <a:avLst/>
          </a:prstGeom>
          <a:noFill/>
          <a:ln/>
        </p:spPr>
        <p:txBody>
          <a:bodyPr wrap="square" rtlCol="0" anchor="ctr"/>
          <a:lstStyle/>
          <a:p>
            <a:pPr marL="0" indent="0">
              <a:buNone/>
            </a:pPr>
            <a:r>
              <a:rPr lang="en-US" sz="1800" dirty="0">
                <a:solidFill>
                  <a:srgbClr val="50E6FF"/>
                </a:solidFill>
                <a:latin typeface="Arial" pitchFamily="34" charset="0"/>
                <a:ea typeface="Arial" pitchFamily="34" charset="-122"/>
                <a:cs typeface="Arial" pitchFamily="34" charset="-120"/>
              </a:rPr>
              <a:t>O'Reilly Live Learning  |  Tim Warner  |  TechTrainerTim.com</a:t>
            </a:r>
            <a:endParaRPr lang="en-US" sz="1800" dirty="0"/>
          </a:p>
        </p:txBody>
      </p:sp>
      <p:sp>
        <p:nvSpPr>
          <p:cNvPr id="4" name="Text 2"/>
          <p:cNvSpPr/>
          <p:nvPr/>
        </p:nvSpPr>
        <p:spPr>
          <a:xfrm>
            <a:off x="731520" y="3840480"/>
            <a:ext cx="7680960" cy="36576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Exam: AB-900  |  45 min  |  700/1000 to pass  |  Beginner level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AB-900 Exam Domains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Domain</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Weight</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Focus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1: Core features and objects of M365 services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30-35%</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Identity, admin centers, core services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2: Data protection and governance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35-40%</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latin typeface="Arial" pitchFamily="34" charset="0"/>
                          <a:ea typeface="Arial" pitchFamily="34" charset="-122"/>
                          <a:cs typeface="Arial" pitchFamily="34" charset="-120"/>
                        </a:rPr>
                        <a:t>HEAVIEST -- Purview, DLP, DSPM for AI</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3CD"/>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3: Basic admin tasks for Copilot and agents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25-30%</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Licensing, agents, Copilot Studio</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Session Roadmap</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Segment 1: Microsoft 365 Copilot -- What it is, how it works, licensing</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Segment 2: Copilot Agents + Copilot Studio -- Build and manage agents</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Segment 3: Data Protection and Governance -- Purview, DLP, DSPM for AI</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Segment 4: M365 Admin, Identity, Security + Exam Prep</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0078D4"/>
                </a:solidFill>
                <a:latin typeface="Arial" pitchFamily="34" charset="0"/>
                <a:ea typeface="Arial" pitchFamily="34" charset="-122"/>
                <a:cs typeface="Arial" pitchFamily="34" charset="-120"/>
              </a:rPr>
              <a:t>Each segment: 50 minutes + 10-minute break</a:t>
            </a:r>
            <a:endParaRPr lang="en-US" sz="1500" dirty="0"/>
          </a:p>
          <a:p>
            <a:pPr>
              <a:lnSpc>
                <a:spcPct val="130000"/>
              </a:lnSpc>
              <a:spcBef>
                <a:spcPts val="400"/>
              </a:spcBef>
            </a:pPr>
            <a:r>
              <a:rPr lang="en-US" sz="1500" dirty="0">
                <a:solidFill>
                  <a:srgbClr val="0078D4"/>
                </a:solidFill>
                <a:latin typeface="Arial" pitchFamily="34" charset="0"/>
                <a:ea typeface="Arial" pitchFamily="34" charset="-122"/>
                <a:cs typeface="Arial" pitchFamily="34" charset="-120"/>
              </a:rPr>
              <a:t>Demos throughout -- follow along if you have a tenant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marL="0" indent="0">
              <a:buNone/>
            </a:pPr>
            <a:r>
              <a:rPr lang="en-US" sz="1400" b="1" dirty="0">
                <a:solidFill>
                  <a:srgbClr val="FFB900"/>
                </a:solidFill>
                <a:latin typeface="Arial" pitchFamily="34" charset="0"/>
                <a:ea typeface="Arial" pitchFamily="34" charset="-122"/>
                <a:cs typeface="Arial" pitchFamily="34" charset="-120"/>
              </a:rPr>
              <a:t>SEGMENT 1</a:t>
            </a:r>
            <a:endParaRPr lang="en-US" sz="1400" dirty="0"/>
          </a:p>
        </p:txBody>
      </p:sp>
      <p:sp>
        <p:nvSpPr>
          <p:cNvPr id="3" name="Text 1"/>
          <p:cNvSpPr/>
          <p:nvPr/>
        </p:nvSpPr>
        <p:spPr>
          <a:xfrm>
            <a:off x="731520" y="1554480"/>
            <a:ext cx="7680960" cy="109728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Microsoft 365 Copilot</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600" dirty="0">
                <a:solidFill>
                  <a:srgbClr val="50E6FF"/>
                </a:solidFill>
                <a:latin typeface="Arial" pitchFamily="34" charset="0"/>
                <a:ea typeface="Arial" pitchFamily="34" charset="-122"/>
                <a:cs typeface="Arial" pitchFamily="34" charset="-120"/>
              </a:rPr>
              <a:t>50 minutes  |  Domain 3 (25-30%)</a:t>
            </a:r>
            <a:endParaRPr lang="en-US" sz="1600" dirty="0"/>
          </a:p>
        </p:txBody>
      </p:sp>
      <p:sp>
        <p:nvSpPr>
          <p:cNvPr id="5" name="Shape 3"/>
          <p:cNvSpPr/>
          <p:nvPr/>
        </p:nvSpPr>
        <p:spPr>
          <a:xfrm>
            <a:off x="731520" y="3657600"/>
            <a:ext cx="2286000" cy="54864"/>
          </a:xfrm>
          <a:prstGeom prst="rect">
            <a:avLst/>
          </a:prstGeom>
          <a:solidFill>
            <a:srgbClr val="FFB900"/>
          </a:solid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What is Microsoft 365 Copilot?</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NOT a standalone app -- it is embedded in Word, Excel, PowerPoint, Outlook, and Teams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AI assistant powered by large language models (Azure OpenAI Service)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Grounded in YOUR organizational data via Microsoft Graph</a:t>
            </a: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Key principle: Copilot can only see what the user can already see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Data never leaves the tenant and is never used to retrain public models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User always sees source references -- full transparency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Copilot Architecture: Four Components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Microsoft Graph -- unified data layer (emails, files, meetings, chats)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Work IQ -- intelligence layer that CONTAINS Graph and the semantic index</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Large Language Models -- multi-provider foundation models, enterprise-tuned</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Tenant-isolated; data never shared across organizations</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Orchestration Service -- manages prompts, data, and LLM interactions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5 steps: prompt intake &gt; evaluation &gt; enrichment &gt; execution &gt; formatting</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Semantic Index -- meaning-based retrieval, not keyword matching</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"Project kickoff" finds docs about "launch meetings" or "initial planning"</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Copilot Across Microsoft 365 Apps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Word</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Draft documents, summarize, rewrite</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Excel</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Formulas, charts, what-if via natural language</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PowerPoint</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Outline to full slide deck with visuals</a:t>
            </a:r>
            <a:endParaRPr lang="en-US" sz="1400" dirty="0"/>
          </a:p>
        </p:txBody>
      </p:sp>
      <p:sp>
        <p:nvSpPr>
          <p:cNvPr id="6" name="Text 4"/>
          <p:cNvSpPr/>
          <p:nvPr/>
        </p:nvSpPr>
        <p:spPr>
          <a:xfrm>
            <a:off x="4754880" y="114300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Outlook</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Thread summaries, draft responses</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Teams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Meeting recaps, action items, chat summaries</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Copilot Chat</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Cross-app search, tenant-wide queries via Graph</a:t>
            </a:r>
            <a:endParaRPr lang="en-US" sz="1400" dirty="0"/>
          </a:p>
        </p:txBody>
      </p:sp>
      <p:sp>
        <p:nvSpPr>
          <p:cNvPr id="7" name="Shape 5"/>
          <p:cNvSpPr/>
          <p:nvPr/>
        </p:nvSpPr>
        <p:spPr>
          <a:xfrm>
            <a:off x="4526280" y="1188720"/>
            <a:ext cx="18288" cy="3200400"/>
          </a:xfrm>
          <a:prstGeom prst="rect">
            <a:avLst/>
          </a:prstGeom>
          <a:solidFill>
            <a:srgbClr val="E0E0E0"/>
          </a:solid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Responsible AI Principles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Data minimization</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Fetches only data needed for the specific request</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Transparency</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Every answer includes source references users can verify</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Content filtering</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Blocks harmful, offensive, or unverified content</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Auditability</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All interactions logged in Microsoft Purview and M365 audit logs</a:t>
            </a: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No fabrication by design -- "No data found" rather than hallucinating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Copilot Licensing Models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Plan</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For</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Key Difference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Copilot Chat (Free)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Anyone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Web-grounded only -- NO org data</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M365 Copilot Business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300-seat MAXIMUM</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Graph grounding + core security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M365 Copilot Enterprise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E3/E5 orgs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Full Purview compliance + governance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Copilot Studio</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Business/Enterprise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Build custom agents + connectors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Monthly Per-User vs. Pay-as-You-Go</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097280"/>
            <a:ext cx="3840480" cy="365760"/>
          </a:xfrm>
          <a:prstGeom prst="rect">
            <a:avLst/>
          </a:prstGeom>
          <a:noFill/>
          <a:ln/>
        </p:spPr>
        <p:txBody>
          <a:bodyPr wrap="square" rtlCol="0" anchor="ctr"/>
          <a:lstStyle/>
          <a:p>
            <a:pPr marL="0" indent="0">
              <a:buNone/>
            </a:pPr>
            <a:r>
              <a:rPr lang="en-US" sz="1600" b="1" dirty="0">
                <a:solidFill>
                  <a:srgbClr val="0078D4"/>
                </a:solidFill>
                <a:latin typeface="Arial" pitchFamily="34" charset="0"/>
                <a:ea typeface="Arial" pitchFamily="34" charset="-122"/>
                <a:cs typeface="Arial" pitchFamily="34" charset="-120"/>
              </a:rPr>
              <a:t>Subscription</a:t>
            </a:r>
            <a:endParaRPr lang="en-US" sz="1600" dirty="0"/>
          </a:p>
        </p:txBody>
      </p:sp>
      <p:sp>
        <p:nvSpPr>
          <p:cNvPr id="6" name="Text 4"/>
          <p:cNvSpPr/>
          <p:nvPr/>
        </p:nvSpPr>
        <p:spPr>
          <a:xfrm>
            <a:off x="4754880" y="1097280"/>
            <a:ext cx="4023360" cy="365760"/>
          </a:xfrm>
          <a:prstGeom prst="rect">
            <a:avLst/>
          </a:prstGeom>
          <a:noFill/>
          <a:ln/>
        </p:spPr>
        <p:txBody>
          <a:bodyPr wrap="square" rtlCol="0" anchor="ctr"/>
          <a:lstStyle/>
          <a:p>
            <a:pPr marL="0" indent="0">
              <a:buNone/>
            </a:pPr>
            <a:r>
              <a:rPr lang="en-US" sz="1600" b="1" dirty="0">
                <a:solidFill>
                  <a:srgbClr val="0078D4"/>
                </a:solidFill>
                <a:latin typeface="Arial" pitchFamily="34" charset="0"/>
                <a:ea typeface="Arial" pitchFamily="34" charset="-122"/>
                <a:cs typeface="Arial" pitchFamily="34" charset="-120"/>
              </a:rPr>
              <a:t>Consumption</a:t>
            </a:r>
            <a:endParaRPr lang="en-US" sz="1600" dirty="0"/>
          </a:p>
        </p:txBody>
      </p:sp>
      <p:sp>
        <p:nvSpPr>
          <p:cNvPr id="7" name="Text 5"/>
          <p:cNvSpPr/>
          <p:nvPr/>
        </p:nvSpPr>
        <p:spPr>
          <a:xfrm>
            <a:off x="548640" y="150876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Monthly Per-User License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Fixed monthly fee regardless of usage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Predictable budgeting</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Risk: over-licensing inactive users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Best for: consistent daily users</a:t>
            </a:r>
            <a:endParaRPr lang="en-US" sz="1400" dirty="0"/>
          </a:p>
        </p:txBody>
      </p:sp>
      <p:sp>
        <p:nvSpPr>
          <p:cNvPr id="8" name="Text 6"/>
          <p:cNvSpPr/>
          <p:nvPr/>
        </p:nvSpPr>
        <p:spPr>
          <a:xfrm>
            <a:off x="4754880" y="150876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Pay-as-You-Go (Consumption)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Charged based on actual usage (Azure)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Metered against Azure subscription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Risk: unexpected cost spikes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Best for: pilots, seasonal, fluctuating demand</a:t>
            </a:r>
            <a:endParaRPr lang="en-US" sz="1400" dirty="0"/>
          </a:p>
        </p:txBody>
      </p:sp>
      <p:sp>
        <p:nvSpPr>
          <p:cNvPr id="9" name="Shape 7"/>
          <p:cNvSpPr/>
          <p:nvPr/>
        </p:nvSpPr>
        <p:spPr>
          <a:xfrm>
            <a:off x="4526280" y="1188720"/>
            <a:ext cx="18288" cy="3200400"/>
          </a:xfrm>
          <a:prstGeom prst="rect">
            <a:avLst/>
          </a:prstGeom>
          <a:solidFill>
            <a:srgbClr val="E0E0E0"/>
          </a:solid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1828800" cy="457200"/>
          </a:xfrm>
          <a:prstGeom prst="rect">
            <a:avLst/>
          </a:prstGeom>
          <a:noFill/>
          <a:ln/>
        </p:spPr>
        <p:txBody>
          <a:bodyPr wrap="square" rtlCol="0" anchor="ctr"/>
          <a:lstStyle/>
          <a:p>
            <a:pPr marL="0" indent="0">
              <a:buNone/>
            </a:pPr>
            <a:r>
              <a:rPr lang="en-US" sz="1300" b="1" dirty="0">
                <a:solidFill>
                  <a:srgbClr val="FFB900"/>
                </a:solidFill>
                <a:latin typeface="Arial" pitchFamily="34" charset="0"/>
                <a:ea typeface="Arial" pitchFamily="34" charset="-122"/>
                <a:cs typeface="Arial" pitchFamily="34" charset="-120"/>
              </a:rPr>
              <a:t>DEMO</a:t>
            </a:r>
            <a:endParaRPr lang="en-US" sz="1300" dirty="0"/>
          </a:p>
        </p:txBody>
      </p:sp>
      <p:sp>
        <p:nvSpPr>
          <p:cNvPr id="3" name="Text 1"/>
          <p:cNvSpPr/>
          <p:nvPr/>
        </p:nvSpPr>
        <p:spPr>
          <a:xfrm>
            <a:off x="548640" y="731520"/>
            <a:ext cx="804672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Copilot in Action</a:t>
            </a:r>
            <a:endParaRPr lang="en-US" sz="2600" dirty="0"/>
          </a:p>
        </p:txBody>
      </p:sp>
      <p:sp>
        <p:nvSpPr>
          <p:cNvPr id="4" name="Shape 2"/>
          <p:cNvSpPr/>
          <p:nvPr/>
        </p:nvSpPr>
        <p:spPr>
          <a:xfrm>
            <a:off x="548640" y="1417320"/>
            <a:ext cx="1371600" cy="36576"/>
          </a:xfrm>
          <a:prstGeom prst="rect">
            <a:avLst/>
          </a:prstGeom>
          <a:solidFill>
            <a:srgbClr val="FFB900"/>
          </a:solidFill>
          <a:ln/>
        </p:spPr>
        <p:txBody>
          <a:bodyPr/>
          <a:lstStyle/>
          <a:p>
            <a:endParaRPr lang="en-US"/>
          </a:p>
        </p:txBody>
      </p:sp>
      <p:sp>
        <p:nvSpPr>
          <p:cNvPr id="5" name="Text 3"/>
          <p:cNvSpPr/>
          <p:nvPr/>
        </p:nvSpPr>
        <p:spPr>
          <a:xfrm>
            <a:off x="548640" y="1645920"/>
            <a:ext cx="8046720" cy="3200400"/>
          </a:xfrm>
          <a:prstGeom prst="rect">
            <a:avLst/>
          </a:prstGeom>
          <a:noFill/>
          <a:ln/>
        </p:spPr>
        <p:txBody>
          <a:bodyPr wrap="square" rtlCol="0" anchor="t"/>
          <a:lstStyle/>
          <a:p>
            <a:pPr marL="0" indent="0">
              <a:lnSpc>
                <a:spcPct val="150000"/>
              </a:lnSpc>
              <a:spcBef>
                <a:spcPts val="600"/>
              </a:spcBef>
              <a:buNone/>
            </a:pPr>
            <a:r>
              <a:rPr lang="en-US" sz="1500" dirty="0">
                <a:solidFill>
                  <a:srgbClr val="F5F5F5"/>
                </a:solidFill>
                <a:latin typeface="Arial" pitchFamily="34" charset="0"/>
                <a:ea typeface="Arial" pitchFamily="34" charset="-122"/>
                <a:cs typeface="Arial" pitchFamily="34" charset="-120"/>
              </a:rPr>
              <a:t>1. Open Word -- use Copilot to draft a project summary from a SharePoint doc2. Open Excel -- ask Copilot to create a chart from raw data3. Open Teams -- review a meeting recap with action items4. Open Copilot Chat -- cross-app search ("What did the team discuss last week?")5. Show source references and Graph grounding in each response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9144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10-MINUTE BREAK</a:t>
            </a:r>
            <a:endParaRPr lang="en-US" sz="3600" dirty="0"/>
          </a:p>
        </p:txBody>
      </p:sp>
      <p:sp>
        <p:nvSpPr>
          <p:cNvPr id="3" name="Text 1"/>
          <p:cNvSpPr/>
          <p:nvPr/>
        </p:nvSpPr>
        <p:spPr>
          <a:xfrm>
            <a:off x="0" y="2377440"/>
            <a:ext cx="9144000" cy="548640"/>
          </a:xfrm>
          <a:prstGeom prst="rect">
            <a:avLst/>
          </a:prstGeom>
          <a:noFill/>
          <a:ln/>
        </p:spPr>
        <p:txBody>
          <a:bodyPr wrap="square" rtlCol="0" anchor="ctr"/>
          <a:lstStyle/>
          <a:p>
            <a:pPr marL="0" indent="0" algn="ctr">
              <a:buNone/>
            </a:pPr>
            <a:r>
              <a:rPr lang="en-US" sz="1800" dirty="0">
                <a:solidFill>
                  <a:srgbClr val="50E6FF"/>
                </a:solidFill>
                <a:latin typeface="Arial" pitchFamily="34" charset="0"/>
                <a:ea typeface="Arial" pitchFamily="34" charset="-122"/>
                <a:cs typeface="Arial" pitchFamily="34" charset="-120"/>
              </a:rPr>
              <a:t>Segment 2 starts shortly</a:t>
            </a:r>
            <a:endParaRPr lang="en-US" sz="1800" dirty="0"/>
          </a:p>
        </p:txBody>
      </p:sp>
      <p:sp>
        <p:nvSpPr>
          <p:cNvPr id="4" name="Text 2"/>
          <p:cNvSpPr/>
          <p:nvPr/>
        </p:nvSpPr>
        <p:spPr>
          <a:xfrm>
            <a:off x="0" y="3108960"/>
            <a:ext cx="9144000" cy="457200"/>
          </a:xfrm>
          <a:prstGeom prst="rect">
            <a:avLst/>
          </a:prstGeom>
          <a:noFill/>
          <a:ln/>
        </p:spPr>
        <p:txBody>
          <a:bodyPr wrap="square" rtlCol="0" anchor="ctr"/>
          <a:lstStyle/>
          <a:p>
            <a:pPr marL="0" indent="0" algn="ctr">
              <a:buNone/>
            </a:pPr>
            <a:r>
              <a:rPr lang="en-US" sz="1400" dirty="0">
                <a:solidFill>
                  <a:srgbClr val="888888"/>
                </a:solidFill>
                <a:latin typeface="Arial" pitchFamily="34" charset="0"/>
                <a:ea typeface="Arial" pitchFamily="34" charset="-122"/>
                <a:cs typeface="Arial" pitchFamily="34" charset="-120"/>
              </a:rPr>
              <a:t>Stretch, grab a drink, and post questions in chat!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marL="0" indent="0">
              <a:buNone/>
            </a:pPr>
            <a:r>
              <a:rPr lang="en-US" sz="1400" b="1" dirty="0">
                <a:solidFill>
                  <a:srgbClr val="FFB900"/>
                </a:solidFill>
                <a:latin typeface="Arial" pitchFamily="34" charset="0"/>
                <a:ea typeface="Arial" pitchFamily="34" charset="-122"/>
                <a:cs typeface="Arial" pitchFamily="34" charset="-120"/>
              </a:rPr>
              <a:t>SEGMENT 2</a:t>
            </a:r>
            <a:endParaRPr lang="en-US" sz="1400" dirty="0"/>
          </a:p>
        </p:txBody>
      </p:sp>
      <p:sp>
        <p:nvSpPr>
          <p:cNvPr id="3" name="Text 1"/>
          <p:cNvSpPr/>
          <p:nvPr/>
        </p:nvSpPr>
        <p:spPr>
          <a:xfrm>
            <a:off x="731520" y="1554480"/>
            <a:ext cx="7680960" cy="109728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Copilot Agents + Copilot Studio</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600" dirty="0">
                <a:solidFill>
                  <a:srgbClr val="50E6FF"/>
                </a:solidFill>
                <a:latin typeface="Arial" pitchFamily="34" charset="0"/>
                <a:ea typeface="Arial" pitchFamily="34" charset="-122"/>
                <a:cs typeface="Arial" pitchFamily="34" charset="-120"/>
              </a:rPr>
              <a:t>50 minutes  |  Domain 3 (25-30%)</a:t>
            </a:r>
            <a:endParaRPr lang="en-US" sz="1600" dirty="0"/>
          </a:p>
        </p:txBody>
      </p:sp>
      <p:sp>
        <p:nvSpPr>
          <p:cNvPr id="5" name="Shape 3"/>
          <p:cNvSpPr/>
          <p:nvPr/>
        </p:nvSpPr>
        <p:spPr>
          <a:xfrm>
            <a:off x="731520" y="3657600"/>
            <a:ext cx="2286000" cy="54864"/>
          </a:xfrm>
          <a:prstGeom prst="rect">
            <a:avLst/>
          </a:prstGeom>
          <a:solidFill>
            <a:srgbClr val="FFB900"/>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What Are Agents?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Intelligent software that automates tasks, answers questions, and acts on user intent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Unlike Copilot (reactive assistant), agents can be tailored for specific expertise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Agents can retrieve information, perform actions, and operate independently</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Four types of agents: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1. Prebuilt (Microsoft): Researcher, Analyst, Writing Coach, Prompt Coach</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2. Ready-made SharePoint site agents: auto-created, scoped to site content</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3. Everyday user agents: no-code, built in Copilot Chat or SharePoint</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4. Advanced agents: Copilot Studio full experience or VS Code, 1000+ connectors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Prebuilt Agents: Researcher and Analyst</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Researcher Agent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AI-powered research assistant -- gathers, analyzes, synthesizes into structured reports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Semantic search across SharePoint, Teams, incident logs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Analyst Agent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Virtual data scientist -- transforms raw data into insights using Python</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Works with Excel, Power BI datasets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EXAM TRAP: Researcher and Analyst require a SEPARATE admin block.</a:t>
            </a: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They are NOT governed by the general agent on/off toggle!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Copilot vs. Agents: Key Differences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1148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Criteria</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Copilot</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Agents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Interaction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Real-time, conversational in apps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Schedule/trigger-based, behind scenes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Data access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User permissions only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Service accounts, managed identities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Customization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Org-level config</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Fully customizable per agent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Security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User-level audit logs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Approval process, credential mgmt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Best for</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Quick one-off tasks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Repetitive, automated workflows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Agent Builder vs. Copilot Studio</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097280"/>
            <a:ext cx="3840480" cy="365760"/>
          </a:xfrm>
          <a:prstGeom prst="rect">
            <a:avLst/>
          </a:prstGeom>
          <a:noFill/>
          <a:ln/>
        </p:spPr>
        <p:txBody>
          <a:bodyPr wrap="square" rtlCol="0" anchor="ctr"/>
          <a:lstStyle/>
          <a:p>
            <a:pPr marL="0" indent="0">
              <a:buNone/>
            </a:pPr>
            <a:r>
              <a:rPr lang="en-US" sz="1600" b="1" dirty="0">
                <a:solidFill>
                  <a:srgbClr val="0078D4"/>
                </a:solidFill>
                <a:latin typeface="Arial" pitchFamily="34" charset="0"/>
                <a:ea typeface="Arial" pitchFamily="34" charset="-122"/>
                <a:cs typeface="Arial" pitchFamily="34" charset="-120"/>
              </a:rPr>
              <a:t>No-Code (Exam Focus)</a:t>
            </a:r>
            <a:endParaRPr lang="en-US" sz="1600" dirty="0"/>
          </a:p>
        </p:txBody>
      </p:sp>
      <p:sp>
        <p:nvSpPr>
          <p:cNvPr id="6" name="Text 4"/>
          <p:cNvSpPr/>
          <p:nvPr/>
        </p:nvSpPr>
        <p:spPr>
          <a:xfrm>
            <a:off x="4754880" y="1097280"/>
            <a:ext cx="4023360" cy="365760"/>
          </a:xfrm>
          <a:prstGeom prst="rect">
            <a:avLst/>
          </a:prstGeom>
          <a:noFill/>
          <a:ln/>
        </p:spPr>
        <p:txBody>
          <a:bodyPr wrap="square" rtlCol="0" anchor="ctr"/>
          <a:lstStyle/>
          <a:p>
            <a:pPr marL="0" indent="0">
              <a:buNone/>
            </a:pPr>
            <a:r>
              <a:rPr lang="en-US" sz="1600" b="1" dirty="0">
                <a:solidFill>
                  <a:srgbClr val="0078D4"/>
                </a:solidFill>
                <a:latin typeface="Arial" pitchFamily="34" charset="0"/>
                <a:ea typeface="Arial" pitchFamily="34" charset="-122"/>
                <a:cs typeface="Arial" pitchFamily="34" charset="-120"/>
              </a:rPr>
              <a:t>Pro-Code</a:t>
            </a:r>
            <a:endParaRPr lang="en-US" sz="1600" dirty="0"/>
          </a:p>
        </p:txBody>
      </p:sp>
      <p:sp>
        <p:nvSpPr>
          <p:cNvPr id="7" name="Text 5"/>
          <p:cNvSpPr/>
          <p:nvPr/>
        </p:nvSpPr>
        <p:spPr>
          <a:xfrm>
            <a:off x="548640" y="150876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Agent Builder (Testable!)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For everyday business users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No coding required</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Describe tab: plain language creation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Configure tab: manual step-by-step</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Both tabs sync automatically</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Templates: preconfigured starting points</a:t>
            </a:r>
            <a:endParaRPr lang="en-US" sz="1400" dirty="0"/>
          </a:p>
        </p:txBody>
      </p:sp>
      <p:sp>
        <p:nvSpPr>
          <p:cNvPr id="8" name="Text 6"/>
          <p:cNvSpPr/>
          <p:nvPr/>
        </p:nvSpPr>
        <p:spPr>
          <a:xfrm>
            <a:off x="4754880" y="150876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Copilot Studio (Full)</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For developers and IT pros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Advanced customization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Multi-step workflows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Custom connectors and APIs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1000+ data connectors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Lifecycle management and security</a:t>
            </a:r>
            <a:endParaRPr lang="en-US" sz="1400" dirty="0"/>
          </a:p>
        </p:txBody>
      </p:sp>
      <p:sp>
        <p:nvSpPr>
          <p:cNvPr id="9" name="Shape 7"/>
          <p:cNvSpPr/>
          <p:nvPr/>
        </p:nvSpPr>
        <p:spPr>
          <a:xfrm>
            <a:off x="4526280" y="1188720"/>
            <a:ext cx="18288" cy="3200400"/>
          </a:xfrm>
          <a:prstGeom prst="rect">
            <a:avLst/>
          </a:prstGeom>
          <a:solidFill>
            <a:srgbClr val="E0E0E0"/>
          </a:solidFill>
          <a:ln/>
        </p:spPr>
        <p:txBody>
          <a:bodyPr/>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Creating an Agent in Agent Builder</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Describe Tab (plain language):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Select a template (optional) -- provides preconfigured starting point</a:t>
            </a:r>
            <a:endParaRPr lang="en-US" sz="1500" dirty="0"/>
          </a:p>
          <a:p>
            <a:pPr lvl="1">
              <a:lnSpc>
                <a:spcPct val="130000"/>
              </a:lnSpc>
              <a:spcBef>
                <a:spcPts val="400"/>
              </a:spcBef>
            </a:pPr>
            <a:r>
              <a:rPr lang="en-US" sz="1500" dirty="0">
                <a:solidFill>
                  <a:srgbClr val="E74856"/>
                </a:solidFill>
                <a:latin typeface="Arial" pitchFamily="34" charset="0"/>
                <a:ea typeface="Arial" pitchFamily="34" charset="-122"/>
                <a:cs typeface="Arial" pitchFamily="34" charset="-120"/>
              </a:rPr>
              <a:t>WARNING: Changing template on Configure tab resets ALL customizations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Enter description in natural language; Agent Builder refines via follow-up questions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Configure Tab (manual):</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Knowledge sources (up to 20): files, SharePoint, web, Copilot connectors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Capabilities (ON by default): Code interpreter, Image generator</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Starter prompts: no documented minimum or maximum</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Test draft before creating -- verify instructions and knowledge sources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Creating a SharePoint Agent</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Four entry points: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Site homepage (+New &gt; Agent), Library command bar, File context menu, Chat pane</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Three tabs: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Overview: name, description, icon (.png, max 1 MB)</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Sources: "Entire site" or pick specific libraries/folders/files (up to 20)</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Behavior: welcome message, starter prompts (max 3), instructions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Key differences from Copilot Chat agents: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Has welcome message, max 3 starter prompts, NO Code Interpreter, NO Image Generator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Agent Approval and Lifecycle</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Three-stage approval process: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1. Submission -- user/developer provides purpose, audience, permissions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2. Review -- admins + compliance officers assess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3. Decision -- approve, reject, or send back for revisions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5A9E"/>
                </a:solidFill>
                <a:latin typeface="Arial" pitchFamily="34" charset="0"/>
                <a:ea typeface="Arial" pitchFamily="34" charset="-122"/>
                <a:cs typeface="Arial" pitchFamily="34" charset="-120"/>
              </a:rPr>
              <a:t>Portal path: admin.microsoft.com &gt; Agents &gt; All agents &gt; Requests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Lifecycle: Create &gt; Approve &gt; Deploy &gt; Maintain &gt; Block/Remove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Communicate retirement 30 days in advance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Monitor via Power Platform admin center and M365 admin center</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0078D4"/>
                </a:solidFill>
                <a:latin typeface="Arial" pitchFamily="34" charset="0"/>
                <a:ea typeface="Arial" pitchFamily="34" charset="-122"/>
                <a:cs typeface="Arial" pitchFamily="34" charset="-120"/>
              </a:rPr>
              <a:t>Licensing: Free (declarative) | Licensed (Copilot Studio) | Consumption (PAYG)</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1828800" cy="457200"/>
          </a:xfrm>
          <a:prstGeom prst="rect">
            <a:avLst/>
          </a:prstGeom>
          <a:noFill/>
          <a:ln/>
        </p:spPr>
        <p:txBody>
          <a:bodyPr wrap="square" rtlCol="0" anchor="ctr"/>
          <a:lstStyle/>
          <a:p>
            <a:pPr marL="0" indent="0">
              <a:buNone/>
            </a:pPr>
            <a:r>
              <a:rPr lang="en-US" sz="1300" b="1" dirty="0">
                <a:solidFill>
                  <a:srgbClr val="FFB900"/>
                </a:solidFill>
                <a:latin typeface="Arial" pitchFamily="34" charset="0"/>
                <a:ea typeface="Arial" pitchFamily="34" charset="-122"/>
                <a:cs typeface="Arial" pitchFamily="34" charset="-120"/>
              </a:rPr>
              <a:t>DEMO</a:t>
            </a:r>
            <a:endParaRPr lang="en-US" sz="1300" dirty="0"/>
          </a:p>
        </p:txBody>
      </p:sp>
      <p:sp>
        <p:nvSpPr>
          <p:cNvPr id="3" name="Text 1"/>
          <p:cNvSpPr/>
          <p:nvPr/>
        </p:nvSpPr>
        <p:spPr>
          <a:xfrm>
            <a:off x="548640" y="731520"/>
            <a:ext cx="804672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Create Two Agents Side by Side</a:t>
            </a:r>
            <a:endParaRPr lang="en-US" sz="2600" dirty="0"/>
          </a:p>
        </p:txBody>
      </p:sp>
      <p:sp>
        <p:nvSpPr>
          <p:cNvPr id="4" name="Shape 2"/>
          <p:cNvSpPr/>
          <p:nvPr/>
        </p:nvSpPr>
        <p:spPr>
          <a:xfrm>
            <a:off x="548640" y="1417320"/>
            <a:ext cx="1371600" cy="36576"/>
          </a:xfrm>
          <a:prstGeom prst="rect">
            <a:avLst/>
          </a:prstGeom>
          <a:solidFill>
            <a:srgbClr val="FFB900"/>
          </a:solidFill>
          <a:ln/>
        </p:spPr>
        <p:txBody>
          <a:bodyPr/>
          <a:lstStyle/>
          <a:p>
            <a:endParaRPr/>
          </a:p>
        </p:txBody>
      </p:sp>
      <p:sp>
        <p:nvSpPr>
          <p:cNvPr id="5" name="Text 3"/>
          <p:cNvSpPr/>
          <p:nvPr/>
        </p:nvSpPr>
        <p:spPr>
          <a:xfrm>
            <a:off x="548640" y="1645920"/>
            <a:ext cx="8046720" cy="3200400"/>
          </a:xfrm>
          <a:prstGeom prst="rect">
            <a:avLst/>
          </a:prstGeom>
          <a:noFill/>
          <a:ln/>
        </p:spPr>
        <p:txBody>
          <a:bodyPr wrap="square" rtlCol="0" anchor="t"/>
          <a:lstStyle/>
          <a:p>
            <a:pPr marL="0" indent="0">
              <a:lnSpc>
                <a:spcPct val="150000"/>
              </a:lnSpc>
              <a:spcBef>
                <a:spcPts val="600"/>
              </a:spcBef>
              <a:buNone/>
            </a:pPr>
            <a:r>
              <a:rPr lang="en-US" sz="1500" dirty="0">
                <a:solidFill>
                  <a:srgbClr val="F5F5F5"/>
                </a:solidFill>
                <a:latin typeface="Arial" pitchFamily="34" charset="0"/>
                <a:ea typeface="Arial" pitchFamily="34" charset="-122"/>
                <a:cs typeface="Arial" pitchFamily="34" charset="-120"/>
              </a:rPr>
              <a:t>1. Create a Copilot Chat agent using the Describe tab -- enter plain language description2. Switch to Configure tab -- add SharePoint knowledge source, enable Code Interpreter3. Add 3 starter prompts and test the draft agent4. Create a SharePoint agent from a document library -- pick specific files as sources5. Compare: welcome message, starter prompt limits, capabilities6. Show the agent approval queue at admin.microsoft.com &gt; Agents &gt; All agents &gt; Requests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9144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10-MINUTE BREAK</a:t>
            </a:r>
            <a:endParaRPr lang="en-US" sz="3600" dirty="0"/>
          </a:p>
        </p:txBody>
      </p:sp>
      <p:sp>
        <p:nvSpPr>
          <p:cNvPr id="3" name="Text 1"/>
          <p:cNvSpPr/>
          <p:nvPr/>
        </p:nvSpPr>
        <p:spPr>
          <a:xfrm>
            <a:off x="0" y="2377440"/>
            <a:ext cx="9144000" cy="548640"/>
          </a:xfrm>
          <a:prstGeom prst="rect">
            <a:avLst/>
          </a:prstGeom>
          <a:noFill/>
          <a:ln/>
        </p:spPr>
        <p:txBody>
          <a:bodyPr wrap="square" rtlCol="0" anchor="ctr"/>
          <a:lstStyle/>
          <a:p>
            <a:pPr marL="0" indent="0" algn="ctr">
              <a:buNone/>
            </a:pPr>
            <a:r>
              <a:rPr lang="en-US" sz="1800" dirty="0">
                <a:solidFill>
                  <a:srgbClr val="50E6FF"/>
                </a:solidFill>
                <a:latin typeface="Arial" pitchFamily="34" charset="0"/>
                <a:ea typeface="Arial" pitchFamily="34" charset="-122"/>
                <a:cs typeface="Arial" pitchFamily="34" charset="-120"/>
              </a:rPr>
              <a:t>Segment 3 starts shortly</a:t>
            </a:r>
            <a:endParaRPr lang="en-US" sz="1800" dirty="0"/>
          </a:p>
        </p:txBody>
      </p:sp>
      <p:sp>
        <p:nvSpPr>
          <p:cNvPr id="4" name="Text 2"/>
          <p:cNvSpPr/>
          <p:nvPr/>
        </p:nvSpPr>
        <p:spPr>
          <a:xfrm>
            <a:off x="0" y="3108960"/>
            <a:ext cx="9144000" cy="457200"/>
          </a:xfrm>
          <a:prstGeom prst="rect">
            <a:avLst/>
          </a:prstGeom>
          <a:noFill/>
          <a:ln/>
        </p:spPr>
        <p:txBody>
          <a:bodyPr wrap="square" rtlCol="0" anchor="ctr"/>
          <a:lstStyle/>
          <a:p>
            <a:pPr marL="0" indent="0" algn="ctr">
              <a:buNone/>
            </a:pPr>
            <a:r>
              <a:rPr lang="en-US" sz="1400" dirty="0">
                <a:solidFill>
                  <a:srgbClr val="888888"/>
                </a:solidFill>
                <a:latin typeface="Arial" pitchFamily="34" charset="0"/>
                <a:ea typeface="Arial" pitchFamily="34" charset="-122"/>
                <a:cs typeface="Arial" pitchFamily="34" charset="-120"/>
              </a:rPr>
              <a:t>Stretch, grab a drink, and post questions in chat!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marL="0" indent="0">
              <a:buNone/>
            </a:pPr>
            <a:r>
              <a:rPr lang="en-US" sz="1400" b="1" dirty="0">
                <a:solidFill>
                  <a:srgbClr val="FFB900"/>
                </a:solidFill>
                <a:latin typeface="Arial" pitchFamily="34" charset="0"/>
                <a:ea typeface="Arial" pitchFamily="34" charset="-122"/>
                <a:cs typeface="Arial" pitchFamily="34" charset="-120"/>
              </a:rPr>
              <a:t>SEGMENT 3</a:t>
            </a:r>
            <a:endParaRPr lang="en-US" sz="1400" dirty="0"/>
          </a:p>
        </p:txBody>
      </p:sp>
      <p:sp>
        <p:nvSpPr>
          <p:cNvPr id="3" name="Text 1"/>
          <p:cNvSpPr/>
          <p:nvPr/>
        </p:nvSpPr>
        <p:spPr>
          <a:xfrm>
            <a:off x="731520" y="1554480"/>
            <a:ext cx="7680960" cy="109728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Data Protection and Governance</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600" dirty="0">
                <a:solidFill>
                  <a:srgbClr val="50E6FF"/>
                </a:solidFill>
                <a:latin typeface="Arial" pitchFamily="34" charset="0"/>
                <a:ea typeface="Arial" pitchFamily="34" charset="-122"/>
                <a:cs typeface="Arial" pitchFamily="34" charset="-120"/>
              </a:rPr>
              <a:t>50 minutes  |  Domain 2 (35-40%) -- HEAVIEST</a:t>
            </a:r>
            <a:endParaRPr lang="en-US" sz="1600" dirty="0"/>
          </a:p>
        </p:txBody>
      </p:sp>
      <p:sp>
        <p:nvSpPr>
          <p:cNvPr id="5" name="Shape 3"/>
          <p:cNvSpPr/>
          <p:nvPr/>
        </p:nvSpPr>
        <p:spPr>
          <a:xfrm>
            <a:off x="731520" y="3657600"/>
            <a:ext cx="2286000" cy="54864"/>
          </a:xfrm>
          <a:prstGeom prst="rect">
            <a:avLst/>
          </a:prstGeom>
          <a:solidFill>
            <a:srgbClr val="FFB900"/>
          </a:solidFill>
          <a:ln/>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Microsoft Purview: The Unified Portal</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purview.microsoft.com -- NOT compliance.microsoft.com (retired)</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Three pillars: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Data Security: sensitivity labels, DLP, encryption</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Data Governance: lifecycle management, retention, archiving</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Risk and Compliance: Insider Risk, Communication Compliance, eDiscovery</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Key exam concept: Purview protects data that Copilot accesses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Sensitivity labels + DLP are enforced on Copilot responses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Sensitivity Labels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Classify and protect data -- labels TRAVEL with the data</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Label components: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Encryption -- restrict who can open, edit, print, copy</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Content markings -- headers, footers, watermarks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Access restrictions -- block external sharing</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Application: manual, automatic (content detection), recommended, or mandatory</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Justification required to downgrade a label</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5A9E"/>
                </a:solidFill>
                <a:latin typeface="Arial" pitchFamily="34" charset="0"/>
                <a:ea typeface="Arial" pitchFamily="34" charset="-122"/>
                <a:cs typeface="Arial" pitchFamily="34" charset="-120"/>
              </a:rPr>
              <a:t>Portal: purview.microsoft.com &gt; Solutions &gt; Information protection &gt; Labels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Data Loss Prevention (DLP)</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Prevents accidental or intentional sharing of sensitive data</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Scans content for patterns: credit card numbers, SSNs, health records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Actions: block, warn with policy tip, require business justification, alert admin</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Enforced across: email, chat, SharePoint, OneDrive, Copilot interactions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Data classification methods: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Sensitive Information Types (SITs) -- regex + checksums + confidence scoring</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Trainable classifiers -- ML models (50+ document samples)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Exact Data Match -- precise matching against uploaded data lists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Insider Risk and Communication Compliance</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Insider Risk Management</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Behavioral analytics + HR signals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Mass file downloads, personal email sharing</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Unusual hours, unfamiliar locations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Integrates resignation/role change data</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Elevates risk score with combined signals</a:t>
            </a:r>
            <a:endParaRPr lang="en-US" sz="1400" dirty="0"/>
          </a:p>
        </p:txBody>
      </p:sp>
      <p:sp>
        <p:nvSpPr>
          <p:cNvPr id="6" name="Text 4"/>
          <p:cNvSpPr/>
          <p:nvPr/>
        </p:nvSpPr>
        <p:spPr>
          <a:xfrm>
            <a:off x="4754880" y="114300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Communication Compliance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Monitors email, Teams, Yammer, Copilot prompts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Detects harassment, data leaks, insider trading</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Pattern-based detection + ML classifiers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Reviewer dashboard for investigation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Dismiss, notify, or escalate to HR/Legal</a:t>
            </a:r>
            <a:endParaRPr lang="en-US" sz="1400" dirty="0"/>
          </a:p>
        </p:txBody>
      </p:sp>
      <p:sp>
        <p:nvSpPr>
          <p:cNvPr id="7" name="Shape 5"/>
          <p:cNvSpPr/>
          <p:nvPr/>
        </p:nvSpPr>
        <p:spPr>
          <a:xfrm>
            <a:off x="4526280" y="1188720"/>
            <a:ext cx="18288" cy="3200400"/>
          </a:xfrm>
          <a:prstGeom prst="rect">
            <a:avLst/>
          </a:prstGeom>
          <a:solidFill>
            <a:srgbClr val="E0E0E0"/>
          </a:solidFill>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DSPM for AI (Data Security Posture Management)</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5A9E"/>
                </a:solidFill>
                <a:latin typeface="Arial" pitchFamily="34" charset="0"/>
                <a:ea typeface="Arial" pitchFamily="34" charset="-122"/>
                <a:cs typeface="Arial" pitchFamily="34" charset="-120"/>
              </a:rPr>
              <a:t>Portal: purview.microsoft.com &gt; Solutions &gt; DSPM for AI (classic)</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What it does: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Discovers and monitors how AI interacts with sensitive data</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Detects shadow AI -- unsanctioned AI tools used without IT approval</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Tracks AI-generated content: where stored, who has access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Oversharing assessments -- identifies data exposure risks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EXAM TRAP: Use DSPM for AI (not Data Explorer) for AI-specific data risk</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Data Explorer finds sensitive data. DSPM for AI monitors AI interactions.</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Compliance Manager, eDiscovery, and Retention</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Compliance Manager:</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Compliance score -- quantifies regulatory readiness (GDPR, HIPAA, ISO 27001)</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Improvement actions -- specific steps to close gaps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eDiscovery:</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ONE unified eDiscovery -- classic Standard/Premium retired Aug 2025</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Premium FEATURES (by subscription): analytics, redaction, review sets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Retention:</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Labels (per-item) vs. policies (location-wide)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Auto-apply rules based on SITs, keywords, or classifiers</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How Copilot Accesses Data Through Graph</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Copilot can only see what the user can already see</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Queries Graph using the user OAuth token (same permissions as user)</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Semantic index ranks results by context, recency, and activity</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Sensitivity labels enforced -- "Confidential - Finance Only" excluded for non-Finance users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DLP rules apply to Copilot responses (block, warn, log)</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"Anyone with the link" -- if link is active, Copilot can access it; revoke = Copilot loses access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All Copilot interactions are logged and auditable via Purview</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SharePoint Oversharing</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Common oversharing scenarios: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"Everyone" or "Anyone with the link" used too broadly</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Edit access when View-only is sufficient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External guests with full site access instead of specific documents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Tools to detect and fix:</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DAG reports (SharePoint admin center) -- identify high-risk sites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SharePoint Advanced Management (SAM) -- add-on for restricted access control (RAC)</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DSPM for AI oversharing reports -- AI-specific oversharing</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1828800" cy="457200"/>
          </a:xfrm>
          <a:prstGeom prst="rect">
            <a:avLst/>
          </a:prstGeom>
          <a:noFill/>
          <a:ln/>
        </p:spPr>
        <p:txBody>
          <a:bodyPr wrap="square" rtlCol="0" anchor="ctr"/>
          <a:lstStyle/>
          <a:p>
            <a:pPr marL="0" indent="0">
              <a:buNone/>
            </a:pPr>
            <a:r>
              <a:rPr lang="en-US" sz="1300" b="1" dirty="0">
                <a:solidFill>
                  <a:srgbClr val="FFB900"/>
                </a:solidFill>
                <a:latin typeface="Arial" pitchFamily="34" charset="0"/>
                <a:ea typeface="Arial" pitchFamily="34" charset="-122"/>
                <a:cs typeface="Arial" pitchFamily="34" charset="-120"/>
              </a:rPr>
              <a:t>DEMO</a:t>
            </a:r>
            <a:endParaRPr lang="en-US" sz="1300" dirty="0"/>
          </a:p>
        </p:txBody>
      </p:sp>
      <p:sp>
        <p:nvSpPr>
          <p:cNvPr id="3" name="Text 1"/>
          <p:cNvSpPr/>
          <p:nvPr/>
        </p:nvSpPr>
        <p:spPr>
          <a:xfrm>
            <a:off x="548640" y="731520"/>
            <a:ext cx="804672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Purview Portal Walkthrough</a:t>
            </a:r>
            <a:endParaRPr lang="en-US" sz="2600" dirty="0"/>
          </a:p>
        </p:txBody>
      </p:sp>
      <p:sp>
        <p:nvSpPr>
          <p:cNvPr id="4" name="Shape 2"/>
          <p:cNvSpPr/>
          <p:nvPr/>
        </p:nvSpPr>
        <p:spPr>
          <a:xfrm>
            <a:off x="548640" y="1417320"/>
            <a:ext cx="1371600" cy="36576"/>
          </a:xfrm>
          <a:prstGeom prst="rect">
            <a:avLst/>
          </a:prstGeom>
          <a:solidFill>
            <a:srgbClr val="FFB900"/>
          </a:solidFill>
          <a:ln/>
        </p:spPr>
        <p:txBody>
          <a:bodyPr/>
          <a:lstStyle/>
          <a:p>
            <a:endParaRPr lang="en-US"/>
          </a:p>
        </p:txBody>
      </p:sp>
      <p:sp>
        <p:nvSpPr>
          <p:cNvPr id="5" name="Text 3"/>
          <p:cNvSpPr/>
          <p:nvPr/>
        </p:nvSpPr>
        <p:spPr>
          <a:xfrm>
            <a:off x="548640" y="1645920"/>
            <a:ext cx="8046720" cy="3200400"/>
          </a:xfrm>
          <a:prstGeom prst="rect">
            <a:avLst/>
          </a:prstGeom>
          <a:noFill/>
          <a:ln/>
        </p:spPr>
        <p:txBody>
          <a:bodyPr wrap="square" rtlCol="0" anchor="t"/>
          <a:lstStyle/>
          <a:p>
            <a:pPr marL="0" indent="0">
              <a:lnSpc>
                <a:spcPct val="150000"/>
              </a:lnSpc>
              <a:spcBef>
                <a:spcPts val="600"/>
              </a:spcBef>
              <a:buNone/>
            </a:pPr>
            <a:r>
              <a:rPr lang="en-US" sz="1500" dirty="0">
                <a:solidFill>
                  <a:srgbClr val="F5F5F5"/>
                </a:solidFill>
                <a:latin typeface="Arial" pitchFamily="34" charset="0"/>
                <a:ea typeface="Arial" pitchFamily="34" charset="-122"/>
                <a:cs typeface="Arial" pitchFamily="34" charset="-120"/>
              </a:rPr>
              <a:t>1. Navigate to purview.microsoft.com -- show the unified portal2. Solutions &gt; Information protection &gt; Labels -- view/create sensitivity labels3. Solutions &gt; Data loss prevention &gt; Policies -- review a DLP policy and alerts4. Solutions &gt; DSPM for AI (classic) -- show oversharing reports and AI activity5. Show how a "Confidential" label restricts Copilot from surfacing a document</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9144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10-MINUTE BREAK</a:t>
            </a:r>
            <a:endParaRPr lang="en-US" sz="3600" dirty="0"/>
          </a:p>
        </p:txBody>
      </p:sp>
      <p:sp>
        <p:nvSpPr>
          <p:cNvPr id="3" name="Text 1"/>
          <p:cNvSpPr/>
          <p:nvPr/>
        </p:nvSpPr>
        <p:spPr>
          <a:xfrm>
            <a:off x="0" y="2377440"/>
            <a:ext cx="9144000" cy="548640"/>
          </a:xfrm>
          <a:prstGeom prst="rect">
            <a:avLst/>
          </a:prstGeom>
          <a:noFill/>
          <a:ln/>
        </p:spPr>
        <p:txBody>
          <a:bodyPr wrap="square" rtlCol="0" anchor="ctr"/>
          <a:lstStyle/>
          <a:p>
            <a:pPr marL="0" indent="0" algn="ctr">
              <a:buNone/>
            </a:pPr>
            <a:r>
              <a:rPr lang="en-US" sz="1800" dirty="0">
                <a:solidFill>
                  <a:srgbClr val="50E6FF"/>
                </a:solidFill>
                <a:latin typeface="Arial" pitchFamily="34" charset="0"/>
                <a:ea typeface="Arial" pitchFamily="34" charset="-122"/>
                <a:cs typeface="Arial" pitchFamily="34" charset="-120"/>
              </a:rPr>
              <a:t>Segment 4 starts shortly</a:t>
            </a:r>
            <a:endParaRPr lang="en-US" sz="1800" dirty="0"/>
          </a:p>
        </p:txBody>
      </p:sp>
      <p:sp>
        <p:nvSpPr>
          <p:cNvPr id="4" name="Text 2"/>
          <p:cNvSpPr/>
          <p:nvPr/>
        </p:nvSpPr>
        <p:spPr>
          <a:xfrm>
            <a:off x="0" y="3108960"/>
            <a:ext cx="9144000" cy="457200"/>
          </a:xfrm>
          <a:prstGeom prst="rect">
            <a:avLst/>
          </a:prstGeom>
          <a:noFill/>
          <a:ln/>
        </p:spPr>
        <p:txBody>
          <a:bodyPr wrap="square" rtlCol="0" anchor="ctr"/>
          <a:lstStyle/>
          <a:p>
            <a:pPr marL="0" indent="0" algn="ctr">
              <a:buNone/>
            </a:pPr>
            <a:r>
              <a:rPr lang="en-US" sz="1400" dirty="0">
                <a:solidFill>
                  <a:srgbClr val="888888"/>
                </a:solidFill>
                <a:latin typeface="Arial" pitchFamily="34" charset="0"/>
                <a:ea typeface="Arial" pitchFamily="34" charset="-122"/>
                <a:cs typeface="Arial" pitchFamily="34" charset="-120"/>
              </a:rPr>
              <a:t>Stretch, grab a drink, and post questions in chat!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marL="0" indent="0">
              <a:buNone/>
            </a:pPr>
            <a:r>
              <a:rPr lang="en-US" sz="1400" b="1" dirty="0">
                <a:solidFill>
                  <a:srgbClr val="FFB900"/>
                </a:solidFill>
                <a:latin typeface="Arial" pitchFamily="34" charset="0"/>
                <a:ea typeface="Arial" pitchFamily="34" charset="-122"/>
                <a:cs typeface="Arial" pitchFamily="34" charset="-120"/>
              </a:rPr>
              <a:t>SEGMENT 4</a:t>
            </a:r>
            <a:endParaRPr lang="en-US" sz="1400" dirty="0"/>
          </a:p>
        </p:txBody>
      </p:sp>
      <p:sp>
        <p:nvSpPr>
          <p:cNvPr id="3" name="Text 1"/>
          <p:cNvSpPr/>
          <p:nvPr/>
        </p:nvSpPr>
        <p:spPr>
          <a:xfrm>
            <a:off x="731520" y="1554480"/>
            <a:ext cx="7680960" cy="109728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M365 Admin, Identity, Security</a:t>
            </a:r>
            <a:endParaRPr lang="en-US" sz="3200" dirty="0"/>
          </a:p>
          <a:p>
            <a:pPr marL="0" indent="0">
              <a:buNone/>
            </a:pPr>
            <a:r>
              <a:rPr lang="en-US" sz="3200" b="1" dirty="0">
                <a:solidFill>
                  <a:srgbClr val="FFFFFF"/>
                </a:solidFill>
                <a:latin typeface="Arial" pitchFamily="34" charset="0"/>
                <a:ea typeface="Arial" pitchFamily="34" charset="-122"/>
                <a:cs typeface="Arial" pitchFamily="34" charset="-120"/>
              </a:rPr>
              <a:t>+ Exam Prep</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600" dirty="0">
                <a:solidFill>
                  <a:srgbClr val="50E6FF"/>
                </a:solidFill>
                <a:latin typeface="Arial" pitchFamily="34" charset="0"/>
                <a:ea typeface="Arial" pitchFamily="34" charset="-122"/>
                <a:cs typeface="Arial" pitchFamily="34" charset="-120"/>
              </a:rPr>
              <a:t>50 minutes  |  Domain 1 (30-35%) + Wrap-up</a:t>
            </a:r>
            <a:endParaRPr lang="en-US" sz="1600" dirty="0"/>
          </a:p>
        </p:txBody>
      </p:sp>
      <p:sp>
        <p:nvSpPr>
          <p:cNvPr id="5" name="Shape 3"/>
          <p:cNvSpPr/>
          <p:nvPr/>
        </p:nvSpPr>
        <p:spPr>
          <a:xfrm>
            <a:off x="731520" y="3657600"/>
            <a:ext cx="2286000" cy="54864"/>
          </a:xfrm>
          <a:prstGeom prst="rect">
            <a:avLst/>
          </a:prstGeom>
          <a:solidFill>
            <a:srgbClr val="FFB900"/>
          </a:solidFill>
          <a:ln/>
        </p:spPr>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Microsoft 365 Admin Center</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admin.microsoft.com -- the central hub</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Dashboard: user activity, license usage, service health, recommendations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Users: create, assign licenses, reset passwords, configure MFA</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Groups: Security, M365, Mail-enabled Security, Distribution, Dynamic</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Billing: subscriptions, license allocation, PAYG policies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Reports: usage across Exchange, Teams, SharePoint, OneDrive, Copilot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Service health: real-time status, incidents, advisories, Message Center</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Core Services at a Glance</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Exchange Online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User, shared, and resource mailboxes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Transport rules (mail flow)</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Retention policies, litigation hold</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SharePoint Online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Team sites vs. communication sites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Document libraries, permissions, sharing</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Permission inheritance model</a:t>
            </a:r>
            <a:endParaRPr lang="en-US" sz="1400" dirty="0"/>
          </a:p>
        </p:txBody>
      </p:sp>
      <p:sp>
        <p:nvSpPr>
          <p:cNvPr id="6" name="Text 4"/>
          <p:cNvSpPr/>
          <p:nvPr/>
        </p:nvSpPr>
        <p:spPr>
          <a:xfrm>
            <a:off x="4754880" y="114300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Microsoft Teams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Channels: standard, private, shared</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Meeting/messaging/app policies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Built on M365 Groups + SharePoint</a:t>
            </a:r>
            <a:endParaRPr lang="en-US" sz="1400" dirty="0"/>
          </a:p>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OneDrive for Business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1 TB per user, Known Folder Move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Sharing controls with expiration</a:t>
            </a:r>
            <a:endParaRPr lang="en-US" sz="1400" dirty="0"/>
          </a:p>
        </p:txBody>
      </p:sp>
      <p:sp>
        <p:nvSpPr>
          <p:cNvPr id="7" name="Shape 5"/>
          <p:cNvSpPr/>
          <p:nvPr/>
        </p:nvSpPr>
        <p:spPr>
          <a:xfrm>
            <a:off x="4526280" y="1188720"/>
            <a:ext cx="18288" cy="3200400"/>
          </a:xfrm>
          <a:prstGeom prst="rect">
            <a:avLst/>
          </a:prstGeom>
          <a:solidFill>
            <a:srgbClr val="E0E0E0"/>
          </a:solidFill>
          <a:ln/>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Copilot Admin Tasks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License assignment:</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Individual: admin.microsoft.com &gt; Users &gt; Active users &gt; Licenses and apps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Group-based: admin.microsoft.com &gt; Groups &gt; Active groups &gt; Licenses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Pay-as-you-go billing (2-step process):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Step 1: Create billing policy at admin.microsoft.com &gt; Copilot &gt; Billing &amp; usage</a:t>
            </a:r>
            <a:endParaRPr lang="en-US" sz="1500" dirty="0"/>
          </a:p>
          <a:p>
            <a:pPr lvl="1">
              <a:lnSpc>
                <a:spcPct val="130000"/>
              </a:lnSpc>
              <a:spcBef>
                <a:spcPts val="400"/>
              </a:spcBef>
            </a:pPr>
            <a:r>
              <a:rPr lang="en-US" sz="1500" dirty="0">
                <a:solidFill>
                  <a:srgbClr val="E74856"/>
                </a:solidFill>
                <a:latin typeface="Arial" pitchFamily="34" charset="0"/>
                <a:ea typeface="Arial" pitchFamily="34" charset="-122"/>
                <a:cs typeface="Arial" pitchFamily="34" charset="-120"/>
              </a:rPr>
              <a:t>Step 2: Connect policy to a Copilot service -- if skipped, PAYG stays disabled!</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Monitor usage: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Reports &gt; Usage &gt; Microsoft 365 Copilot (quick triage)</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Copilot Analytics via Viva Insights Dashboard (deeper adoption analysis)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Prompt governance: save, share, schedule, delete prompts</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Zero Trust Security Model</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Three core principles:</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Verify explicitly -- every request authenticated with all signals (identity, device, location)</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Least privilege -- minimum access needed; PIM for just-in-time elevation</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Assume breach -- segment, monitor, respond; Defender XDR + Sentinel</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Six pillars: Identity, Endpoints, Apps, Data, Infrastructure, Network</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0078D4"/>
                </a:solidFill>
                <a:latin typeface="Arial" pitchFamily="34" charset="0"/>
                <a:ea typeface="Arial" pitchFamily="34" charset="-122"/>
                <a:cs typeface="Arial" pitchFamily="34" charset="-120"/>
              </a:rPr>
              <a:t>Microsoft Secure Score measures your security posture</a:t>
            </a:r>
            <a:endParaRPr lang="en-US" sz="1500" dirty="0"/>
          </a:p>
          <a:p>
            <a:pPr>
              <a:lnSpc>
                <a:spcPct val="130000"/>
              </a:lnSpc>
              <a:spcBef>
                <a:spcPts val="400"/>
              </a:spcBef>
            </a:pPr>
            <a:r>
              <a:rPr lang="en-US" sz="1500" dirty="0">
                <a:solidFill>
                  <a:srgbClr val="0078D4"/>
                </a:solidFill>
                <a:latin typeface="Arial" pitchFamily="34" charset="0"/>
                <a:ea typeface="Arial" pitchFamily="34" charset="-122"/>
                <a:cs typeface="Arial" pitchFamily="34" charset="-120"/>
              </a:rPr>
              <a:t>Identity Secure Score measures identity-specific posture</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Identity and Authentication</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Microsoft Entra ID -- the central identity platform</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Authentication methods: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MFA, passwordless (FIDO2, Windows Hello, Authenticator), SSPR</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Hybrid auth:</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Password Hash Sync (most common) | Pass-through Auth | Federation (AD FS)</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SSO:</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Authenticate once, access all M365 + approved third-party apps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Conditional Access: signals &gt; decision &gt; enforcement</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Signals: user risk, device compliance, location, app sensitivity</a:t>
            </a:r>
            <a:endParaRPr lang="en-US" sz="1500" dirty="0"/>
          </a:p>
          <a:p>
            <a:pPr lvl="1">
              <a:lnSpc>
                <a:spcPct val="130000"/>
              </a:lnSpc>
              <a:spcBef>
                <a:spcPts val="400"/>
              </a:spcBef>
            </a:pPr>
            <a:r>
              <a:rPr lang="en-US" sz="1500" dirty="0">
                <a:solidFill>
                  <a:srgbClr val="333333"/>
                </a:solidFill>
                <a:latin typeface="Arial" pitchFamily="34" charset="0"/>
                <a:ea typeface="Arial" pitchFamily="34" charset="-122"/>
                <a:cs typeface="Arial" pitchFamily="34" charset="-120"/>
              </a:rPr>
              <a:t>"What If" tool to simulate policies before deployment</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PIM and Microsoft Defender XDR</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384048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Privileged Identity Management (PIM)</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Just-in-time admin role activation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Time-bound access -- auto-revokes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Requires MFA + justification at activation</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Approval workflows for sensitive roles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All activations logged and auditable</a:t>
            </a:r>
            <a:endParaRPr lang="en-US" sz="1400" dirty="0"/>
          </a:p>
        </p:txBody>
      </p:sp>
      <p:sp>
        <p:nvSpPr>
          <p:cNvPr id="6" name="Text 4"/>
          <p:cNvSpPr/>
          <p:nvPr/>
        </p:nvSpPr>
        <p:spPr>
          <a:xfrm>
            <a:off x="4754880" y="1143000"/>
            <a:ext cx="4023360" cy="3474720"/>
          </a:xfrm>
          <a:prstGeom prst="rect">
            <a:avLst/>
          </a:prstGeom>
          <a:noFill/>
          <a:ln/>
        </p:spPr>
        <p:txBody>
          <a:bodyPr wrap="square" rtlCol="0" anchor="t"/>
          <a:lstStyle/>
          <a:p>
            <a:pPr>
              <a:lnSpc>
                <a:spcPct val="125000"/>
              </a:lnSpc>
              <a:spcBef>
                <a:spcPts val="300"/>
              </a:spcBef>
            </a:pPr>
            <a:r>
              <a:rPr lang="en-US" sz="1400" b="1" dirty="0">
                <a:solidFill>
                  <a:srgbClr val="333333"/>
                </a:solidFill>
                <a:latin typeface="Arial" pitchFamily="34" charset="0"/>
                <a:ea typeface="Arial" pitchFamily="34" charset="-122"/>
                <a:cs typeface="Arial" pitchFamily="34" charset="-120"/>
              </a:rPr>
              <a:t>Microsoft Defender XDR</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Unified threat detection and response</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Defender for Office 365 (email/phishing)</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Defender for Endpoint (devices)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Defender for Identity (AD signals)</a:t>
            </a:r>
            <a:endParaRPr lang="en-US" sz="1400" dirty="0"/>
          </a:p>
          <a:p>
            <a:pPr>
              <a:lnSpc>
                <a:spcPct val="125000"/>
              </a:lnSpc>
              <a:spcBef>
                <a:spcPts val="300"/>
              </a:spcBef>
            </a:pPr>
            <a:r>
              <a:rPr lang="en-US" sz="1400" dirty="0">
                <a:solidFill>
                  <a:srgbClr val="333333"/>
                </a:solidFill>
                <a:latin typeface="Arial" pitchFamily="34" charset="0"/>
                <a:ea typeface="Arial" pitchFamily="34" charset="-122"/>
                <a:cs typeface="Arial" pitchFamily="34" charset="-120"/>
              </a:rPr>
              <a:t>Defender for Cloud Apps (shadow IT)</a:t>
            </a:r>
            <a:endParaRPr lang="en-US" sz="1400" dirty="0"/>
          </a:p>
        </p:txBody>
      </p:sp>
      <p:sp>
        <p:nvSpPr>
          <p:cNvPr id="7" name="Shape 5"/>
          <p:cNvSpPr/>
          <p:nvPr/>
        </p:nvSpPr>
        <p:spPr>
          <a:xfrm>
            <a:off x="4526280" y="1188720"/>
            <a:ext cx="18288" cy="3200400"/>
          </a:xfrm>
          <a:prstGeom prst="rect">
            <a:avLst/>
          </a:prstGeom>
          <a:solidFill>
            <a:srgbClr val="E0E0E0"/>
          </a:solidFill>
          <a:ln/>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App Registrations and Enterprise Apps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App Registrations: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Define how an app connects to M365 and what it can access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Specify account types and required permissions (read profiles, send email, etc.)</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Secured with client secrets or certificates -- rotate regularly</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Enterprise Applications: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Service principals instantiated in a tenant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Represent the actual app instance users interact with</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User consent management:</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Review and limit which apps users can approve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Regularly audit permissions -- enforce least privilege for apps</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Role-Based Access Control (RBAC)</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Principle of least privilege -- do NOT use Global Admin for everything</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Key built-in roles: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Global Administrator: full access (use sparingly)</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Exchange Administrator, Teams Administrator, SharePoint Administrator</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Helpdesk Administrator: password resets only</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Compliance Administrator: audit logs, DLP policies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User Administrator: account management</a:t>
            </a:r>
            <a:endParaRPr lang="en-US" sz="1500" dirty="0"/>
          </a:p>
          <a:p>
            <a:pPr>
              <a:lnSpc>
                <a:spcPct val="130000"/>
              </a:lnSpc>
              <a:spcBef>
                <a:spcPts val="400"/>
              </a:spcBef>
            </a:pP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Custom roles available in Microsoft Entra ID for fine-tuned access</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Use group-based role assignment for scalability</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1828800" cy="457200"/>
          </a:xfrm>
          <a:prstGeom prst="rect">
            <a:avLst/>
          </a:prstGeom>
          <a:noFill/>
          <a:ln/>
        </p:spPr>
        <p:txBody>
          <a:bodyPr wrap="square" rtlCol="0" anchor="ctr"/>
          <a:lstStyle/>
          <a:p>
            <a:pPr marL="0" indent="0">
              <a:buNone/>
            </a:pPr>
            <a:r>
              <a:rPr lang="en-US" sz="1300" b="1" dirty="0">
                <a:solidFill>
                  <a:srgbClr val="FFB900"/>
                </a:solidFill>
                <a:latin typeface="Arial" pitchFamily="34" charset="0"/>
                <a:ea typeface="Arial" pitchFamily="34" charset="-122"/>
                <a:cs typeface="Arial" pitchFamily="34" charset="-120"/>
              </a:rPr>
              <a:t>DEMO</a:t>
            </a:r>
            <a:endParaRPr lang="en-US" sz="1300" dirty="0"/>
          </a:p>
        </p:txBody>
      </p:sp>
      <p:sp>
        <p:nvSpPr>
          <p:cNvPr id="3" name="Text 1"/>
          <p:cNvSpPr/>
          <p:nvPr/>
        </p:nvSpPr>
        <p:spPr>
          <a:xfrm>
            <a:off x="548640" y="731520"/>
            <a:ext cx="804672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Admin Center Tour</a:t>
            </a:r>
            <a:endParaRPr lang="en-US" sz="2600" dirty="0"/>
          </a:p>
        </p:txBody>
      </p:sp>
      <p:sp>
        <p:nvSpPr>
          <p:cNvPr id="4" name="Shape 2"/>
          <p:cNvSpPr/>
          <p:nvPr/>
        </p:nvSpPr>
        <p:spPr>
          <a:xfrm>
            <a:off x="548640" y="1417320"/>
            <a:ext cx="1371600" cy="36576"/>
          </a:xfrm>
          <a:prstGeom prst="rect">
            <a:avLst/>
          </a:prstGeom>
          <a:solidFill>
            <a:srgbClr val="FFB900"/>
          </a:solidFill>
          <a:ln/>
        </p:spPr>
        <p:txBody>
          <a:bodyPr/>
          <a:lstStyle/>
          <a:p>
            <a:endParaRPr lang="en-US"/>
          </a:p>
        </p:txBody>
      </p:sp>
      <p:sp>
        <p:nvSpPr>
          <p:cNvPr id="5" name="Text 3"/>
          <p:cNvSpPr/>
          <p:nvPr/>
        </p:nvSpPr>
        <p:spPr>
          <a:xfrm>
            <a:off x="548640" y="1645920"/>
            <a:ext cx="8046720" cy="3200400"/>
          </a:xfrm>
          <a:prstGeom prst="rect">
            <a:avLst/>
          </a:prstGeom>
          <a:noFill/>
          <a:ln/>
        </p:spPr>
        <p:txBody>
          <a:bodyPr wrap="square" rtlCol="0" anchor="t"/>
          <a:lstStyle/>
          <a:p>
            <a:pPr marL="0" indent="0">
              <a:lnSpc>
                <a:spcPct val="150000"/>
              </a:lnSpc>
              <a:spcBef>
                <a:spcPts val="600"/>
              </a:spcBef>
              <a:buNone/>
            </a:pPr>
            <a:r>
              <a:rPr lang="en-US" sz="1500" dirty="0">
                <a:solidFill>
                  <a:srgbClr val="F5F5F5"/>
                </a:solidFill>
                <a:latin typeface="Arial" pitchFamily="34" charset="0"/>
                <a:ea typeface="Arial" pitchFamily="34" charset="-122"/>
                <a:cs typeface="Arial" pitchFamily="34" charset="-120"/>
              </a:rPr>
              <a:t>1. admin.microsoft.com -- show dashboard, user list, license management2. Assign a Copilot license to a user (Users &gt; Active users &gt; Licenses and apps)3. Copilot &gt; Billing &amp; usage -- show PAYG billing policy setup4. entra.microsoft.com -- show Conditional Access policy and "What If" tool5. Health &gt; Service health -- review active advisories</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Key Portal Paths (Memorize These!)</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lang="en-US"/>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347472">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Task</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Portal Path</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DSPM for AI</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purview.microsoft.com &gt; Solutions &gt; DSPM for AI (classic)</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Copilot PAYG billing</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admin.microsoft.com &gt; Copilot &gt; Billing &amp; usage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Agent approval queue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admin.microsoft.com &gt; Agents &gt; All agents &gt; Requests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Sensitivity labels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purview.microsoft.com &gt; Solutions &gt; Information protection &gt; Labels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Conditional Access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entra.microsoft.com &gt; Protection &gt; Conditional Access &gt; Policies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PIM role activation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entra.microsoft.com &gt; Identity governance &gt; PIM</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Copilot license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333333"/>
                          </a:solidFill>
                          <a:latin typeface="Arial" pitchFamily="34" charset="0"/>
                          <a:ea typeface="Arial" pitchFamily="34" charset="-122"/>
                          <a:cs typeface="Arial" pitchFamily="34" charset="-120"/>
                        </a:rPr>
                        <a:t>admin.microsoft.com &gt; Users &gt; Active users &gt; Licenses and apps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txBody>
          <a:bodyPr/>
          <a:lstStyle/>
          <a:p>
            <a:endParaRPr/>
          </a:p>
        </p:txBody>
      </p:sp>
      <p:sp>
        <p:nvSpPr>
          <p:cNvPr id="3" name="Text 1"/>
          <p:cNvSpPr/>
          <p:nvPr/>
        </p:nvSpPr>
        <p:spPr>
          <a:xfrm>
            <a:off x="548640" y="274320"/>
            <a:ext cx="8046720" cy="640080"/>
          </a:xfrm>
          <a:prstGeom prst="rect">
            <a:avLst/>
          </a:prstGeom>
          <a:noFill/>
          <a:ln/>
        </p:spPr>
        <p:txBody>
          <a:bodyPr wrap="square" rtlCol="0" anchor="ctr"/>
          <a:lstStyle/>
          <a:p>
            <a:pPr marL="0" indent="0">
              <a:buNone/>
            </a:pPr>
            <a:r>
              <a:rPr lang="en-US" sz="2400" b="1" dirty="0">
                <a:solidFill>
                  <a:srgbClr val="0F1B2D"/>
                </a:solidFill>
                <a:latin typeface="Arial" pitchFamily="34" charset="0"/>
                <a:ea typeface="Arial" pitchFamily="34" charset="-122"/>
                <a:cs typeface="Arial" pitchFamily="34" charset="-120"/>
              </a:rPr>
              <a:t>Exam Tips and Final Reminders</a:t>
            </a:r>
            <a:endParaRPr lang="en-US" sz="2400" dirty="0"/>
          </a:p>
        </p:txBody>
      </p:sp>
      <p:sp>
        <p:nvSpPr>
          <p:cNvPr id="4" name="Shape 2"/>
          <p:cNvSpPr/>
          <p:nvPr/>
        </p:nvSpPr>
        <p:spPr>
          <a:xfrm>
            <a:off x="548640" y="960120"/>
            <a:ext cx="1371600" cy="36576"/>
          </a:xfrm>
          <a:prstGeom prst="rect">
            <a:avLst/>
          </a:prstGeom>
          <a:solidFill>
            <a:srgbClr val="0078D4"/>
          </a:solidFill>
          <a:ln/>
        </p:spPr>
        <p:txBody>
          <a:bodyPr/>
          <a:lstStyle/>
          <a:p>
            <a:endParaRPr/>
          </a:p>
        </p:txBody>
      </p:sp>
      <p:sp>
        <p:nvSpPr>
          <p:cNvPr id="5" name="Text 3"/>
          <p:cNvSpPr/>
          <p:nvPr/>
        </p:nvSpPr>
        <p:spPr>
          <a:xfrm>
            <a:off x="548640" y="1143000"/>
            <a:ext cx="8046720" cy="3657600"/>
          </a:xfrm>
          <a:prstGeom prst="rect">
            <a:avLst/>
          </a:prstGeom>
          <a:noFill/>
          <a:ln/>
        </p:spPr>
        <p:txBody>
          <a:bodyPr wrap="square" rtlCol="0" anchor="t"/>
          <a:lstStyle/>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Domain 2 (Purview/data protection) is 35-40% -- study it most</a:t>
            </a:r>
            <a:endParaRPr lang="en-US" sz="1500" dirty="0"/>
          </a:p>
          <a:p>
            <a:pPr>
              <a:lnSpc>
                <a:spcPct val="130000"/>
              </a:lnSpc>
              <a:spcBef>
                <a:spcPts val="400"/>
              </a:spcBef>
            </a:pPr>
            <a:r>
              <a:rPr lang="en-US" sz="1500" b="1" dirty="0">
                <a:solidFill>
                  <a:srgbClr val="333333"/>
                </a:solidFill>
                <a:latin typeface="Arial" pitchFamily="34" charset="0"/>
                <a:ea typeface="Arial" pitchFamily="34" charset="-122"/>
                <a:cs typeface="Arial" pitchFamily="34" charset="-120"/>
              </a:rPr>
              <a:t>Know the portal paths -- wrong portal is the #1 distractor pattern</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Copilot = reactive assistant | Agents = autonomous, customizable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Researcher and Analyst need a separate admin block (not the general toggle)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PAYG billing is a 2-step process -- both steps required or PAYG stays disabled</a:t>
            </a: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Copilot license activation has a 24-hour delay -- NOT immediate</a:t>
            </a:r>
            <a:endParaRPr lang="en-US" sz="1500" dirty="0"/>
          </a:p>
          <a:p>
            <a:pPr>
              <a:lnSpc>
                <a:spcPct val="130000"/>
              </a:lnSpc>
              <a:spcBef>
                <a:spcPts val="400"/>
              </a:spcBef>
            </a:pPr>
            <a:r>
              <a:rPr lang="en-US" sz="1500" b="1" dirty="0">
                <a:solidFill>
                  <a:srgbClr val="E74856"/>
                </a:solidFill>
                <a:latin typeface="Arial" pitchFamily="34" charset="0"/>
                <a:ea typeface="Arial" pitchFamily="34" charset="-122"/>
                <a:cs typeface="Arial" pitchFamily="34" charset="-120"/>
              </a:rPr>
              <a:t>PAYG usage is metered in Copilot Credits (not "per message")</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DSPM for AI for AI-specific risk; Data Explorer for general sensitive data</a:t>
            </a:r>
            <a:endParaRPr lang="en-US" sz="1500" dirty="0"/>
          </a:p>
          <a:p>
            <a:pPr>
              <a:lnSpc>
                <a:spcPct val="130000"/>
              </a:lnSpc>
              <a:spcBef>
                <a:spcPts val="400"/>
              </a:spcBef>
            </a:pPr>
            <a:r>
              <a:rPr lang="en-US" sz="1500" dirty="0">
                <a:solidFill>
                  <a:srgbClr val="333333"/>
                </a:solidFill>
                <a:latin typeface="Arial" pitchFamily="34" charset="0"/>
                <a:ea typeface="Arial" pitchFamily="34" charset="-122"/>
                <a:cs typeface="Arial" pitchFamily="34" charset="-120"/>
              </a:rPr>
              <a:t>Copilot can only see what the user can see -- Graph enforces permissions</a:t>
            </a:r>
            <a:endParaRPr lang="en-US" sz="1500" dirty="0"/>
          </a:p>
          <a:p>
            <a:pPr>
              <a:lnSpc>
                <a:spcPct val="130000"/>
              </a:lnSpc>
              <a:spcBef>
                <a:spcPts val="400"/>
              </a:spcBef>
            </a:pPr>
            <a:endParaRPr lang="en-US" sz="1500" dirty="0"/>
          </a:p>
          <a:p>
            <a:pPr>
              <a:lnSpc>
                <a:spcPct val="130000"/>
              </a:lnSpc>
              <a:spcBef>
                <a:spcPts val="400"/>
              </a:spcBef>
            </a:pPr>
            <a:r>
              <a:rPr lang="en-US" sz="1500" b="1" dirty="0">
                <a:solidFill>
                  <a:srgbClr val="0078D4"/>
                </a:solidFill>
                <a:latin typeface="Arial" pitchFamily="34" charset="0"/>
                <a:ea typeface="Arial" pitchFamily="34" charset="-122"/>
                <a:cs typeface="Arial" pitchFamily="34" charset="-120"/>
              </a:rPr>
              <a:t>Passing score: 700/1000  |  45 minutes  |  Exam sandbox: aka.ms/examdemo</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109728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Thank You!</a:t>
            </a:r>
            <a:endParaRPr lang="en-US" sz="4200" dirty="0"/>
          </a:p>
        </p:txBody>
      </p:sp>
      <p:sp>
        <p:nvSpPr>
          <p:cNvPr id="3" name="Text 1"/>
          <p:cNvSpPr/>
          <p:nvPr/>
        </p:nvSpPr>
        <p:spPr>
          <a:xfrm>
            <a:off x="0" y="2103120"/>
            <a:ext cx="9144000" cy="548640"/>
          </a:xfrm>
          <a:prstGeom prst="rect">
            <a:avLst/>
          </a:prstGeom>
          <a:noFill/>
          <a:ln/>
        </p:spPr>
        <p:txBody>
          <a:bodyPr wrap="square" rtlCol="0" anchor="ctr"/>
          <a:lstStyle/>
          <a:p>
            <a:pPr marL="0" indent="0" algn="ctr">
              <a:buNone/>
            </a:pPr>
            <a:r>
              <a:rPr lang="en-US" sz="1800" dirty="0">
                <a:solidFill>
                  <a:srgbClr val="50E6FF"/>
                </a:solidFill>
                <a:latin typeface="Arial" pitchFamily="34" charset="0"/>
                <a:ea typeface="Arial" pitchFamily="34" charset="-122"/>
                <a:cs typeface="Arial" pitchFamily="34" charset="-120"/>
              </a:rPr>
              <a:t>Tim Warner  |  TechTrainerTim.com  |  github.com/timothywarner</a:t>
            </a:r>
            <a:endParaRPr lang="en-US" sz="1800" dirty="0"/>
          </a:p>
        </p:txBody>
      </p:sp>
      <p:sp>
        <p:nvSpPr>
          <p:cNvPr id="4" name="Text 2"/>
          <p:cNvSpPr/>
          <p:nvPr/>
        </p:nvSpPr>
        <p:spPr>
          <a:xfrm>
            <a:off x="0" y="2926080"/>
            <a:ext cx="9144000" cy="548640"/>
          </a:xfrm>
          <a:prstGeom prst="rect">
            <a:avLst/>
          </a:prstGeom>
          <a:noFill/>
          <a:ln/>
        </p:spPr>
        <p:txBody>
          <a:bodyPr wrap="square" rtlCol="0" anchor="ctr"/>
          <a:lstStyle/>
          <a:p>
            <a:pPr marL="0" indent="0" algn="ctr">
              <a:buNone/>
            </a:pPr>
            <a:r>
              <a:rPr lang="en-US" sz="2000" dirty="0">
                <a:solidFill>
                  <a:srgbClr val="FFB900"/>
                </a:solidFill>
                <a:latin typeface="Arial" pitchFamily="34" charset="0"/>
                <a:ea typeface="Arial" pitchFamily="34" charset="-122"/>
                <a:cs typeface="Arial" pitchFamily="34" charset="-120"/>
              </a:rPr>
              <a:t>Good luck on the AB-900 exam!</a:t>
            </a:r>
            <a:endParaRPr lang="en-US" sz="2000" dirty="0"/>
          </a:p>
        </p:txBody>
      </p:sp>
      <p:sp>
        <p:nvSpPr>
          <p:cNvPr id="5" name="Text 3"/>
          <p:cNvSpPr/>
          <p:nvPr/>
        </p:nvSpPr>
        <p:spPr>
          <a:xfrm>
            <a:off x="0" y="3840480"/>
            <a:ext cx="9144000" cy="365760"/>
          </a:xfrm>
          <a:prstGeom prst="rect">
            <a:avLst/>
          </a:prstGeom>
          <a:noFill/>
          <a:ln/>
        </p:spPr>
        <p:txBody>
          <a:bodyPr wrap="square" rtlCol="0" anchor="ctr"/>
          <a:lstStyle/>
          <a:p>
            <a:pPr marL="0" indent="0" algn="ctr">
              <a:buNone/>
            </a:pPr>
            <a:r>
              <a:rPr lang="en-US" sz="1400" dirty="0">
                <a:solidFill>
                  <a:srgbClr val="888888"/>
                </a:solidFill>
                <a:latin typeface="Arial" pitchFamily="34" charset="0"/>
                <a:ea typeface="Arial" pitchFamily="34" charset="-122"/>
                <a:cs typeface="Arial" pitchFamily="34" charset="-120"/>
              </a:rPr>
              <a:t>Resources: github.com/timothywarner-org/ab900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3641</Words>
  <Application>Microsoft Office PowerPoint</Application>
  <PresentationFormat>On-screen Show (16:9)</PresentationFormat>
  <Paragraphs>523</Paragraphs>
  <Slides>60</Slides>
  <Notes>48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60</vt:i4>
      </vt:variant>
    </vt:vector>
  </HeadingPairs>
  <TitlesOfParts>
    <vt:vector size="71" baseType="lpstr">
      <vt:lpstr>Arial</vt:lpstr>
      <vt:lpstr>Calibri</vt:lpstr>
      <vt:lpstr>JetBrains Mono</vt:lpstr>
      <vt:lpstr>Myriad Pro</vt:lpstr>
      <vt:lpstr>Open Sans</vt:lpstr>
      <vt:lpstr>PS TT Commons</vt:lpstr>
      <vt:lpstr>PS TT Commons DemiBold</vt:lpstr>
      <vt:lpstr>Segoe Pro</vt:lpstr>
      <vt:lpstr>Segoe UI</vt:lpstr>
      <vt:lpstr>Office Theme</vt:lpstr>
      <vt:lpstr>Standard_LiveLessons_2017</vt:lpstr>
      <vt:lpstr>PowerPoint Presentation</vt:lpstr>
      <vt:lpstr>PowerPoint Presentation</vt:lpstr>
      <vt:lpstr>Tim Warner</vt:lpstr>
      <vt:lpstr>Course Flow (Central Time Zone)</vt:lpstr>
      <vt:lpstr>Course materials</vt:lpstr>
      <vt:lpstr>Session Recording + Badge</vt:lpstr>
      <vt:lpstr>Session Recording + Badge</vt:lpstr>
      <vt:lpstr>Session Recording + Badge</vt:lpstr>
      <vt:lpstr>Mobile Browser: learning.oreilly.com</vt:lpstr>
      <vt:lpstr>O'Reilly Mobile App</vt:lpstr>
      <vt:lpstr>Session Recording + Badge</vt:lpstr>
      <vt:lpstr>Questions?</vt:lpstr>
      <vt:lpstr>Tim's IT Certification Study Model</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AB-900: Microsoft 365 Copilot and Agent Administration Fundamentals</dc:title>
  <dc:subject>O'Reilly Live Learning</dc:subject>
  <dc:creator>Tim Warner</dc:creator>
  <cp:lastModifiedBy>Tim Warner</cp:lastModifiedBy>
  <cp:revision>5</cp:revision>
  <dcterms:created xsi:type="dcterms:W3CDTF">2026-04-01T16:33:30Z</dcterms:created>
  <dcterms:modified xsi:type="dcterms:W3CDTF">2026-07-28T13:33:44Z</dcterms:modified>
</cp:coreProperties>
</file>